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40080"/>
            <a:ext cx="10728655" cy="548640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40080"/>
            <a:ext cx="10728655" cy="109728"/>
          </a:xfrm>
          <a:prstGeom prst="rect">
            <a:avLst/>
          </a:prstGeom>
          <a:solidFill>
            <a:srgbClr val="D476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80160" y="1188720"/>
            <a:ext cx="777240" cy="777240"/>
          </a:xfrm>
          <a:prstGeom prst="roundRect">
            <a:avLst/>
          </a:prstGeom>
          <a:solidFill>
            <a:srgbClr val="D476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a:pPr>
            <a:r>
              <a:t>🛡️</a:t>
            </a:r>
          </a:p>
        </p:txBody>
      </p:sp>
      <p:sp>
        <p:nvSpPr>
          <p:cNvPr id="6" name="TextBox 5"/>
          <p:cNvSpPr txBox="1"/>
          <p:nvPr/>
        </p:nvSpPr>
        <p:spPr>
          <a:xfrm>
            <a:off x="2286000" y="1097280"/>
            <a:ext cx="8686800" cy="1463040"/>
          </a:xfrm>
          <a:prstGeom prst="rect">
            <a:avLst/>
          </a:prstGeom>
          <a:noFill/>
        </p:spPr>
        <p:txBody>
          <a:bodyPr wrap="square" lIns="0" tIns="0" rIns="0" bIns="0">
            <a:spAutoFit/>
          </a:bodyPr>
          <a:lstStyle/>
          <a:p>
            <a:pPr>
              <a:defRPr sz="3600" b="1">
                <a:solidFill>
                  <a:srgbClr val="2D2418"/>
                </a:solidFill>
                <a:latin typeface="Segoe UI"/>
              </a:defRPr>
            </a:pPr>
            <a:r>
              <a:t>Enterprise AI Guardian</a:t>
            </a:r>
          </a:p>
          <a:p>
            <a:pPr>
              <a:spcBef>
                <a:spcPts val="400"/>
              </a:spcBef>
              <a:defRPr sz="1800" b="1">
                <a:solidFill>
                  <a:srgbClr val="D4760A"/>
                </a:solidFill>
                <a:latin typeface="Segoe UI"/>
              </a:defRPr>
            </a:pPr>
            <a:r>
              <a:t>AI Governance &amp; Security Control Tower</a:t>
            </a:r>
          </a:p>
          <a:p>
            <a:pPr>
              <a:spcBef>
                <a:spcPts val="400"/>
              </a:spcBef>
              <a:defRPr sz="1100">
                <a:solidFill>
                  <a:srgbClr val="6B4F3B"/>
                </a:solidFill>
                <a:latin typeface="Calibri"/>
              </a:defRPr>
            </a:pPr>
            <a:r>
              <a:t>Zero-Bypass Inline Threat Mitigation • Real-Time Data Sanitization • Multi-Model Compliance Ledger</a:t>
            </a:r>
          </a:p>
        </p:txBody>
      </p:sp>
      <p:sp>
        <p:nvSpPr>
          <p:cNvPr id="7" name="Rectangle 6"/>
          <p:cNvSpPr/>
          <p:nvPr/>
        </p:nvSpPr>
        <p:spPr>
          <a:xfrm>
            <a:off x="1280160" y="2926080"/>
            <a:ext cx="963137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280160" y="3200400"/>
            <a:ext cx="4663440" cy="1737360"/>
          </a:xfrm>
          <a:prstGeom prst="roundRect">
            <a:avLst/>
          </a:prstGeom>
          <a:solidFill>
            <a:srgbClr val="FDF4E7"/>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3383280"/>
            <a:ext cx="4206240" cy="1371600"/>
          </a:xfrm>
          <a:prstGeom prst="rect">
            <a:avLst/>
          </a:prstGeom>
          <a:noFill/>
        </p:spPr>
        <p:txBody>
          <a:bodyPr wrap="square" lIns="0" tIns="0" rIns="0" bIns="0">
            <a:spAutoFit/>
          </a:bodyPr>
          <a:lstStyle/>
          <a:p>
            <a:pPr>
              <a:spcAft>
                <a:spcPts val="400"/>
              </a:spcAft>
              <a:defRPr sz="950" b="1">
                <a:solidFill>
                  <a:srgbClr val="D4760A"/>
                </a:solidFill>
                <a:latin typeface="Segoe UI"/>
              </a:defRPr>
            </a:pPr>
            <a:r>
              <a:t>INNOVATION TRACK &amp; CATEGORY</a:t>
            </a:r>
          </a:p>
          <a:p>
            <a:pPr>
              <a:defRPr sz="1400" b="1">
                <a:solidFill>
                  <a:srgbClr val="2D2418"/>
                </a:solidFill>
                <a:latin typeface="Segoe UI"/>
              </a:defRPr>
            </a:pPr>
            <a:r>
              <a:t>Digithon '26  |  AI / AX</a:t>
            </a:r>
            <a:br/>
            <a:r>
              <a:t>AI Governance &amp; Security Track</a:t>
            </a:r>
          </a:p>
        </p:txBody>
      </p:sp>
      <p:sp>
        <p:nvSpPr>
          <p:cNvPr id="10" name="Rounded Rectangle 9"/>
          <p:cNvSpPr/>
          <p:nvPr/>
        </p:nvSpPr>
        <p:spPr>
          <a:xfrm>
            <a:off x="6248095" y="3200400"/>
            <a:ext cx="4663440" cy="1737360"/>
          </a:xfrm>
          <a:prstGeom prst="roundRect">
            <a:avLst/>
          </a:prstGeom>
          <a:solidFill>
            <a:srgbClr val="FDF4E7"/>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6695" y="3383280"/>
            <a:ext cx="4206240" cy="1371600"/>
          </a:xfrm>
          <a:prstGeom prst="rect">
            <a:avLst/>
          </a:prstGeom>
          <a:noFill/>
        </p:spPr>
        <p:txBody>
          <a:bodyPr wrap="square" lIns="0" tIns="0" rIns="0" bIns="0">
            <a:spAutoFit/>
          </a:bodyPr>
          <a:lstStyle/>
          <a:p>
            <a:pPr>
              <a:spcAft>
                <a:spcPts val="400"/>
              </a:spcAft>
              <a:defRPr sz="950" b="1">
                <a:solidFill>
                  <a:srgbClr val="D4760A"/>
                </a:solidFill>
                <a:latin typeface="Segoe UI"/>
              </a:defRPr>
            </a:pPr>
            <a:r>
              <a:t>SUBMITTED BY &amp; DEPARTMENT</a:t>
            </a:r>
          </a:p>
          <a:p>
            <a:pPr>
              <a:defRPr sz="1400" b="1">
                <a:solidFill>
                  <a:srgbClr val="2D2418"/>
                </a:solidFill>
                <a:latin typeface="Segoe UI"/>
              </a:defRPr>
            </a:pPr>
            <a:r>
              <a:t>Abdhesh Singh</a:t>
            </a:r>
            <a:br/>
            <a:r>
              <a:t>Dept - Knox Part</a:t>
            </a:r>
          </a:p>
        </p:txBody>
      </p:sp>
      <p:sp>
        <p:nvSpPr>
          <p:cNvPr id="12" name="TextBox 11"/>
          <p:cNvSpPr txBox="1"/>
          <p:nvPr/>
        </p:nvSpPr>
        <p:spPr>
          <a:xfrm>
            <a:off x="1280160" y="5166360"/>
            <a:ext cx="9631375" cy="365760"/>
          </a:xfrm>
          <a:prstGeom prst="rect">
            <a:avLst/>
          </a:prstGeom>
          <a:noFill/>
        </p:spPr>
        <p:txBody>
          <a:bodyPr wrap="square">
            <a:spAutoFit/>
          </a:bodyPr>
          <a:lstStyle/>
          <a:p>
            <a:pPr algn="ctr">
              <a:defRPr sz="950" b="1">
                <a:solidFill>
                  <a:srgbClr val="9C7D64"/>
                </a:solidFill>
                <a:latin typeface="Segoe UI"/>
              </a:defRPr>
            </a:pPr>
            <a:r>
              <a:t>ENTERPRISE REAL-TIME INLINE AI GATEWAY &amp; AUDIT OBSERVABILITY PLATFORM • 10-MINUTE JURY PITCH</a:t>
            </a:r>
          </a:p>
        </p:txBody>
      </p:sp>
      <p:sp>
        <p:nvSpPr>
          <p:cNvPr id="13" name="Rectangle 12"/>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Introduce problem statement in 30 seconds: Generative AI is inevitable, but unmonitored adoption creates multi-million dollar data breach risks.</a:t>
            </a:r>
          </a:p>
        </p:txBody>
      </p:sp>
      <p:sp>
        <p:nvSpPr>
          <p:cNvPr id="15" name="TextBox 14"/>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01 /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THE ENTERPRISE AI DILEMMA</a:t>
            </a:r>
          </a:p>
          <a:p>
            <a:pPr>
              <a:spcAft>
                <a:spcPts val="200"/>
              </a:spcAft>
              <a:defRPr sz="2200" b="1">
                <a:solidFill>
                  <a:srgbClr val="2D2418"/>
                </a:solidFill>
                <a:latin typeface="Segoe UI"/>
              </a:defRPr>
            </a:pPr>
            <a:r>
              <a:t>The AI Security Challenge: Innovation vs Exposure</a:t>
            </a:r>
          </a:p>
          <a:p>
            <a:pPr>
              <a:defRPr sz="1100">
                <a:solidFill>
                  <a:srgbClr val="6B4F3B"/>
                </a:solidFill>
                <a:latin typeface="Calibri"/>
              </a:defRPr>
            </a:pPr>
            <a:r>
              <a:t>Uncontrolled Generative AI adoption creates irreversible intellectual property leakage and compliance liabilities.</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40%+ SHADOW AI USAGE</a:t>
            </a:r>
          </a:p>
        </p:txBody>
      </p:sp>
      <p:sp>
        <p:nvSpPr>
          <p:cNvPr id="5" name="Rounded Rectangle 4"/>
          <p:cNvSpPr/>
          <p:nvPr/>
        </p:nvSpPr>
        <p:spPr>
          <a:xfrm>
            <a:off x="731520" y="1691640"/>
            <a:ext cx="521208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663440" cy="3931920"/>
          </a:xfrm>
          <a:prstGeom prst="rect">
            <a:avLst/>
          </a:prstGeom>
          <a:noFill/>
        </p:spPr>
        <p:txBody>
          <a:bodyPr wrap="square" lIns="0" tIns="0" rIns="0" bIns="0">
            <a:spAutoFit/>
          </a:bodyPr>
          <a:lstStyle/>
          <a:p>
            <a:pPr>
              <a:spcAft>
                <a:spcPts val="800"/>
              </a:spcAft>
              <a:defRPr sz="1100" b="1">
                <a:solidFill>
                  <a:srgbClr val="D4760A"/>
                </a:solidFill>
                <a:latin typeface="Segoe UI"/>
              </a:defRPr>
            </a:pPr>
            <a:r>
              <a:t>THE PRODUCTIVITY VS RISK PARADOX</a:t>
            </a:r>
          </a:p>
          <a:p>
            <a:pPr>
              <a:spcAft>
                <a:spcPts val="1600"/>
              </a:spcAft>
              <a:defRPr sz="1200">
                <a:solidFill>
                  <a:srgbClr val="2D2418"/>
                </a:solidFill>
                <a:latin typeface="Calibri"/>
              </a:defRPr>
            </a:pPr>
            <a:r>
              <a:t>Employees are aggressively leveraging commercial AI assistants to draft code, summarize legal briefs, and parse telemetry. Without centralized inline guardrails, sensitive corporate IP routinely leaves enterprise boundaries into public cloud models.</a:t>
            </a:r>
          </a:p>
        </p:txBody>
      </p:sp>
      <p:sp>
        <p:nvSpPr>
          <p:cNvPr id="7" name="Rounded Rectangle 6"/>
          <p:cNvSpPr/>
          <p:nvPr/>
        </p:nvSpPr>
        <p:spPr>
          <a:xfrm>
            <a:off x="1005840" y="3383280"/>
            <a:ext cx="4663440" cy="1554480"/>
          </a:xfrm>
          <a:prstGeom prst="roundRect">
            <a:avLst/>
          </a:prstGeom>
          <a:solidFill>
            <a:srgbClr val="FFF3E0"/>
          </a:solidFill>
          <a:ln w="1524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520440"/>
            <a:ext cx="4389120" cy="1280160"/>
          </a:xfrm>
          <a:prstGeom prst="rect">
            <a:avLst/>
          </a:prstGeom>
          <a:noFill/>
        </p:spPr>
        <p:txBody>
          <a:bodyPr wrap="square" lIns="0" tIns="0" rIns="0" bIns="0">
            <a:spAutoFit/>
          </a:bodyPr>
          <a:lstStyle/>
          <a:p>
            <a:pPr>
              <a:spcAft>
                <a:spcPts val="400"/>
              </a:spcAft>
              <a:defRPr sz="1000" b="1">
                <a:solidFill>
                  <a:srgbClr val="D4760A"/>
                </a:solidFill>
                <a:latin typeface="Segoe UI"/>
              </a:defRPr>
            </a:pPr>
            <a:r>
              <a:t>CORE STRATEGIC IMPERATIVE:</a:t>
            </a:r>
          </a:p>
          <a:p>
            <a:pPr>
              <a:defRPr sz="1200" b="1">
                <a:solidFill>
                  <a:srgbClr val="2D2418"/>
                </a:solidFill>
                <a:latin typeface="Segoe UI"/>
              </a:defRPr>
            </a:pPr>
            <a:r>
              <a:t>“Organizations cannot ban AI without stalling innovation. They must enforce visibility, sanitization, and policy before requests exit the perimeter.”</a:t>
            </a:r>
          </a:p>
        </p:txBody>
      </p:sp>
      <p:sp>
        <p:nvSpPr>
          <p:cNvPr id="9" name="Rounded Rectangle 8"/>
          <p:cNvSpPr/>
          <p:nvPr/>
        </p:nvSpPr>
        <p:spPr>
          <a:xfrm>
            <a:off x="6248095" y="1691640"/>
            <a:ext cx="521208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22415" y="1920240"/>
            <a:ext cx="4663440" cy="3931920"/>
          </a:xfrm>
          <a:prstGeom prst="rect">
            <a:avLst/>
          </a:prstGeom>
          <a:noFill/>
        </p:spPr>
        <p:txBody>
          <a:bodyPr wrap="square" lIns="0" tIns="0" rIns="0" bIns="0">
            <a:spAutoFit/>
          </a:bodyPr>
          <a:lstStyle/>
          <a:p>
            <a:pPr>
              <a:spcAft>
                <a:spcPts val="1000"/>
              </a:spcAft>
              <a:defRPr sz="1100" b="1">
                <a:solidFill>
                  <a:srgbClr val="D4760A"/>
                </a:solidFill>
                <a:latin typeface="Segoe UI"/>
              </a:defRPr>
            </a:pPr>
            <a:r>
              <a:t>5 LETHAL EXFILTRATION VECTORS</a:t>
            </a:r>
          </a:p>
          <a:p>
            <a:pPr>
              <a:spcBef>
                <a:spcPts val="400"/>
              </a:spcBef>
              <a:defRPr sz="1100" b="1">
                <a:solidFill>
                  <a:srgbClr val="C62828"/>
                </a:solidFill>
                <a:latin typeface="Segoe UI"/>
              </a:defRPr>
            </a:pPr>
            <a:r>
              <a:t>• Accidental Credential Leaks</a:t>
            </a:r>
          </a:p>
          <a:p>
            <a:pPr>
              <a:spcAft>
                <a:spcPts val="300"/>
              </a:spcAft>
              <a:defRPr sz="950">
                <a:solidFill>
                  <a:srgbClr val="6B4F3B"/>
                </a:solidFill>
                <a:latin typeface="Calibri"/>
              </a:defRPr>
            </a:pPr>
            <a:r>
              <a:t>   Hardcoded API keys, JWT tokens, AWS credentials, and database passwords pasted into prompts.</a:t>
            </a:r>
          </a:p>
          <a:p>
            <a:pPr>
              <a:spcBef>
                <a:spcPts val="400"/>
              </a:spcBef>
              <a:defRPr sz="1100" b="1">
                <a:solidFill>
                  <a:srgbClr val="C62828"/>
                </a:solidFill>
                <a:latin typeface="Segoe UI"/>
              </a:defRPr>
            </a:pPr>
            <a:r>
              <a:t>• Customer PII &amp; Sensitive Records</a:t>
            </a:r>
          </a:p>
          <a:p>
            <a:pPr>
              <a:spcAft>
                <a:spcPts val="300"/>
              </a:spcAft>
              <a:defRPr sz="950">
                <a:solidFill>
                  <a:srgbClr val="6B4F3B"/>
                </a:solidFill>
                <a:latin typeface="Calibri"/>
              </a:defRPr>
            </a:pPr>
            <a:r>
              <a:t>   Social Security Numbers, credit cards, customer emails, and patient records pasted for summarization.</a:t>
            </a:r>
          </a:p>
          <a:p>
            <a:pPr>
              <a:spcBef>
                <a:spcPts val="400"/>
              </a:spcBef>
              <a:defRPr sz="1100" b="1">
                <a:solidFill>
                  <a:srgbClr val="C62828"/>
                </a:solidFill>
                <a:latin typeface="Segoe UI"/>
              </a:defRPr>
            </a:pPr>
            <a:r>
              <a:t>• Proprietary Source Code Exposure</a:t>
            </a:r>
          </a:p>
          <a:p>
            <a:pPr>
              <a:spcAft>
                <a:spcPts val="300"/>
              </a:spcAft>
              <a:defRPr sz="950">
                <a:solidFill>
                  <a:srgbClr val="6B4F3B"/>
                </a:solidFill>
                <a:latin typeface="Calibri"/>
              </a:defRPr>
            </a:pPr>
            <a:r>
              <a:t>   Core algorithmic logic, cryptographic secrets, and architectural blueprints submitted to cloud models.</a:t>
            </a:r>
          </a:p>
          <a:p>
            <a:pPr>
              <a:spcBef>
                <a:spcPts val="400"/>
              </a:spcBef>
              <a:defRPr sz="1100" b="1">
                <a:solidFill>
                  <a:srgbClr val="C62828"/>
                </a:solidFill>
                <a:latin typeface="Segoe UI"/>
              </a:defRPr>
            </a:pPr>
            <a:r>
              <a:t>• Confidential Strategic Documents</a:t>
            </a:r>
          </a:p>
          <a:p>
            <a:pPr>
              <a:spcAft>
                <a:spcPts val="300"/>
              </a:spcAft>
              <a:defRPr sz="950">
                <a:solidFill>
                  <a:srgbClr val="6B4F3B"/>
                </a:solidFill>
                <a:latin typeface="Calibri"/>
              </a:defRPr>
            </a:pPr>
            <a:r>
              <a:t>   Unredacted financial earnings, M&amp;A strategy drafts, and NDA-protected vendor contracts.</a:t>
            </a:r>
          </a:p>
          <a:p>
            <a:pPr>
              <a:spcBef>
                <a:spcPts val="400"/>
              </a:spcBef>
              <a:defRPr sz="1100" b="1">
                <a:solidFill>
                  <a:srgbClr val="C62828"/>
                </a:solidFill>
                <a:latin typeface="Segoe UI"/>
              </a:defRPr>
            </a:pPr>
            <a:r>
              <a:t>• Adversarial Prompt Injections</a:t>
            </a:r>
          </a:p>
          <a:p>
            <a:pPr>
              <a:spcAft>
                <a:spcPts val="300"/>
              </a:spcAft>
              <a:defRPr sz="950">
                <a:solidFill>
                  <a:srgbClr val="6B4F3B"/>
                </a:solidFill>
                <a:latin typeface="Calibri"/>
              </a:defRPr>
            </a:pPr>
            <a:r>
              <a:t>   Jailbreak payloads, prompt leakage exploits, and system prompt bypass commands.</a:t>
            </a:r>
          </a:p>
        </p:txBody>
      </p:sp>
      <p:sp>
        <p:nvSpPr>
          <p:cNvPr id="11" name="Rectangle 10"/>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Emphasize: Blanket bans fail because employees bypass controls; inline intelligent governance is the only viable path.</a:t>
            </a:r>
          </a:p>
        </p:txBody>
      </p:sp>
      <p:sp>
        <p:nvSpPr>
          <p:cNvPr id="13" name="TextBox 12"/>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02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THE ARCHITECTURAL ANSWER</a:t>
            </a:r>
          </a:p>
          <a:p>
            <a:pPr>
              <a:spcAft>
                <a:spcPts val="200"/>
              </a:spcAft>
              <a:defRPr sz="2200" b="1">
                <a:solidFill>
                  <a:srgbClr val="2D2418"/>
                </a:solidFill>
                <a:latin typeface="Segoe UI"/>
              </a:defRPr>
            </a:pPr>
            <a:r>
              <a:t>Enterprise AI Guardian: The Inline Control Tower</a:t>
            </a:r>
          </a:p>
          <a:p>
            <a:pPr>
              <a:defRPr sz="1100">
                <a:solidFill>
                  <a:srgbClr val="6B4F3B"/>
                </a:solidFill>
                <a:latin typeface="Calibri"/>
              </a:defRPr>
            </a:pPr>
            <a:r>
              <a:t>A zero-bypass security plane governing every prompt and completion in real time.</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&lt; 45MS LATENCY OVERHEAD</a:t>
            </a:r>
          </a:p>
        </p:txBody>
      </p:sp>
      <p:sp>
        <p:nvSpPr>
          <p:cNvPr id="5" name="Rounded Rectangle 4"/>
          <p:cNvSpPr/>
          <p:nvPr/>
        </p:nvSpPr>
        <p:spPr>
          <a:xfrm>
            <a:off x="731520" y="1737360"/>
            <a:ext cx="1188720" cy="128016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847088"/>
            <a:ext cx="1042416" cy="1060704"/>
          </a:xfrm>
          <a:prstGeom prst="rect">
            <a:avLst/>
          </a:prstGeom>
          <a:noFill/>
        </p:spPr>
        <p:txBody>
          <a:bodyPr wrap="square" anchor="ctr" lIns="0" tIns="0" rIns="0" bIns="0">
            <a:spAutoFit/>
          </a:bodyPr>
          <a:lstStyle/>
          <a:p>
            <a:pPr algn="ctr">
              <a:spcAft>
                <a:spcPts val="300"/>
              </a:spcAft>
              <a:defRPr sz="900" b="1">
                <a:solidFill>
                  <a:srgbClr val="6B4F3B"/>
                </a:solidFill>
                <a:latin typeface="Consolas"/>
              </a:defRPr>
            </a:pPr>
            <a:r>
              <a:t>01</a:t>
            </a:r>
          </a:p>
          <a:p>
            <a:pPr algn="ctr">
              <a:spcAft>
                <a:spcPts val="300"/>
              </a:spcAft>
              <a:defRPr sz="1050" b="1">
                <a:solidFill>
                  <a:srgbClr val="2D2418"/>
                </a:solidFill>
                <a:latin typeface="Segoe UI"/>
              </a:defRPr>
            </a:pPr>
            <a:r>
              <a:t>Employee</a:t>
            </a:r>
          </a:p>
          <a:p>
            <a:pPr algn="ctr">
              <a:defRPr sz="850">
                <a:solidFill>
                  <a:srgbClr val="6B4F3B"/>
                </a:solidFill>
                <a:latin typeface="Calibri"/>
              </a:defRPr>
            </a:pPr>
            <a:r>
              <a:t>Ingress Prompt</a:t>
            </a:r>
          </a:p>
        </p:txBody>
      </p:sp>
      <p:sp>
        <p:nvSpPr>
          <p:cNvPr id="7" name="TextBox 6"/>
          <p:cNvSpPr txBox="1"/>
          <p:nvPr/>
        </p:nvSpPr>
        <p:spPr>
          <a:xfrm>
            <a:off x="1920240" y="2148840"/>
            <a:ext cx="164592" cy="365760"/>
          </a:xfrm>
          <a:prstGeom prst="rect">
            <a:avLst/>
          </a:prstGeom>
          <a:noFill/>
        </p:spPr>
        <p:txBody>
          <a:bodyPr wrap="none" lIns="0" tIns="0" rIns="0" bIns="0">
            <a:spAutoFit/>
          </a:bodyPr>
          <a:lstStyle/>
          <a:p>
            <a:pPr algn="ctr">
              <a:defRPr sz="1300" b="1">
                <a:solidFill>
                  <a:srgbClr val="D4760A"/>
                </a:solidFill>
              </a:defRPr>
            </a:pPr>
            <a:r>
              <a:t>→</a:t>
            </a:r>
          </a:p>
        </p:txBody>
      </p:sp>
      <p:sp>
        <p:nvSpPr>
          <p:cNvPr id="8" name="Rounded Rectangle 7"/>
          <p:cNvSpPr/>
          <p:nvPr/>
        </p:nvSpPr>
        <p:spPr>
          <a:xfrm>
            <a:off x="2084832" y="1737360"/>
            <a:ext cx="1188720" cy="128016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57984" y="1847088"/>
            <a:ext cx="1042416" cy="1060704"/>
          </a:xfrm>
          <a:prstGeom prst="rect">
            <a:avLst/>
          </a:prstGeom>
          <a:noFill/>
        </p:spPr>
        <p:txBody>
          <a:bodyPr wrap="square" anchor="ctr" lIns="0" tIns="0" rIns="0" bIns="0">
            <a:spAutoFit/>
          </a:bodyPr>
          <a:lstStyle/>
          <a:p>
            <a:pPr algn="ctr">
              <a:spcAft>
                <a:spcPts val="300"/>
              </a:spcAft>
              <a:defRPr sz="900" b="1">
                <a:solidFill>
                  <a:srgbClr val="D4760A"/>
                </a:solidFill>
                <a:latin typeface="Consolas"/>
              </a:defRPr>
            </a:pPr>
            <a:r>
              <a:t>02</a:t>
            </a:r>
          </a:p>
          <a:p>
            <a:pPr algn="ctr">
              <a:spcAft>
                <a:spcPts val="300"/>
              </a:spcAft>
              <a:defRPr sz="1050" b="1">
                <a:solidFill>
                  <a:srgbClr val="2D2418"/>
                </a:solidFill>
                <a:latin typeface="Segoe UI"/>
              </a:defRPr>
            </a:pPr>
            <a:r>
              <a:t>AI Gateway</a:t>
            </a:r>
          </a:p>
          <a:p>
            <a:pPr algn="ctr">
              <a:defRPr sz="850">
                <a:solidFill>
                  <a:srgbClr val="6B4F3B"/>
                </a:solidFill>
                <a:latin typeface="Calibri"/>
              </a:defRPr>
            </a:pPr>
            <a:r>
              <a:t>Proxy &amp; Route</a:t>
            </a:r>
          </a:p>
        </p:txBody>
      </p:sp>
      <p:sp>
        <p:nvSpPr>
          <p:cNvPr id="10" name="TextBox 9"/>
          <p:cNvSpPr txBox="1"/>
          <p:nvPr/>
        </p:nvSpPr>
        <p:spPr>
          <a:xfrm>
            <a:off x="3273552" y="2148840"/>
            <a:ext cx="164592" cy="365760"/>
          </a:xfrm>
          <a:prstGeom prst="rect">
            <a:avLst/>
          </a:prstGeom>
          <a:noFill/>
        </p:spPr>
        <p:txBody>
          <a:bodyPr wrap="none" lIns="0" tIns="0" rIns="0" bIns="0">
            <a:spAutoFit/>
          </a:bodyPr>
          <a:lstStyle/>
          <a:p>
            <a:pPr algn="ctr">
              <a:defRPr sz="1300" b="1">
                <a:solidFill>
                  <a:srgbClr val="D4760A"/>
                </a:solidFill>
              </a:defRPr>
            </a:pPr>
            <a:r>
              <a:t>→</a:t>
            </a:r>
          </a:p>
        </p:txBody>
      </p:sp>
      <p:sp>
        <p:nvSpPr>
          <p:cNvPr id="11" name="Rounded Rectangle 10"/>
          <p:cNvSpPr/>
          <p:nvPr/>
        </p:nvSpPr>
        <p:spPr>
          <a:xfrm>
            <a:off x="3438144" y="1737360"/>
            <a:ext cx="1188720" cy="128016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11296" y="1847088"/>
            <a:ext cx="1042416" cy="1060704"/>
          </a:xfrm>
          <a:prstGeom prst="rect">
            <a:avLst/>
          </a:prstGeom>
          <a:noFill/>
        </p:spPr>
        <p:txBody>
          <a:bodyPr wrap="square" anchor="ctr" lIns="0" tIns="0" rIns="0" bIns="0">
            <a:spAutoFit/>
          </a:bodyPr>
          <a:lstStyle/>
          <a:p>
            <a:pPr algn="ctr">
              <a:spcAft>
                <a:spcPts val="300"/>
              </a:spcAft>
              <a:defRPr sz="900" b="1">
                <a:solidFill>
                  <a:srgbClr val="D4760A"/>
                </a:solidFill>
                <a:latin typeface="Consolas"/>
              </a:defRPr>
            </a:pPr>
            <a:r>
              <a:t>03</a:t>
            </a:r>
          </a:p>
          <a:p>
            <a:pPr algn="ctr">
              <a:spcAft>
                <a:spcPts val="300"/>
              </a:spcAft>
              <a:defRPr sz="1050" b="1">
                <a:solidFill>
                  <a:srgbClr val="2D2418"/>
                </a:solidFill>
                <a:latin typeface="Segoe UI"/>
              </a:defRPr>
            </a:pPr>
            <a:r>
              <a:t>Security Scanner</a:t>
            </a:r>
          </a:p>
          <a:p>
            <a:pPr algn="ctr">
              <a:defRPr sz="850">
                <a:solidFill>
                  <a:srgbClr val="6B4F3B"/>
                </a:solidFill>
                <a:latin typeface="Calibri"/>
              </a:defRPr>
            </a:pPr>
            <a:r>
              <a:t>PII &amp; Injection</a:t>
            </a:r>
          </a:p>
        </p:txBody>
      </p:sp>
      <p:sp>
        <p:nvSpPr>
          <p:cNvPr id="13" name="TextBox 12"/>
          <p:cNvSpPr txBox="1"/>
          <p:nvPr/>
        </p:nvSpPr>
        <p:spPr>
          <a:xfrm>
            <a:off x="4626864" y="2148840"/>
            <a:ext cx="164592" cy="365760"/>
          </a:xfrm>
          <a:prstGeom prst="rect">
            <a:avLst/>
          </a:prstGeom>
          <a:noFill/>
        </p:spPr>
        <p:txBody>
          <a:bodyPr wrap="none" lIns="0" tIns="0" rIns="0" bIns="0">
            <a:spAutoFit/>
          </a:bodyPr>
          <a:lstStyle/>
          <a:p>
            <a:pPr algn="ctr">
              <a:defRPr sz="1300" b="1">
                <a:solidFill>
                  <a:srgbClr val="D4760A"/>
                </a:solidFill>
              </a:defRPr>
            </a:pPr>
            <a:r>
              <a:t>→</a:t>
            </a:r>
          </a:p>
        </p:txBody>
      </p:sp>
      <p:sp>
        <p:nvSpPr>
          <p:cNvPr id="14" name="Rounded Rectangle 13"/>
          <p:cNvSpPr/>
          <p:nvPr/>
        </p:nvSpPr>
        <p:spPr>
          <a:xfrm>
            <a:off x="4791456" y="1737360"/>
            <a:ext cx="1188720" cy="128016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64608" y="1847088"/>
            <a:ext cx="1042416" cy="1060704"/>
          </a:xfrm>
          <a:prstGeom prst="rect">
            <a:avLst/>
          </a:prstGeom>
          <a:noFill/>
        </p:spPr>
        <p:txBody>
          <a:bodyPr wrap="square" anchor="ctr" lIns="0" tIns="0" rIns="0" bIns="0">
            <a:spAutoFit/>
          </a:bodyPr>
          <a:lstStyle/>
          <a:p>
            <a:pPr algn="ctr">
              <a:spcAft>
                <a:spcPts val="300"/>
              </a:spcAft>
              <a:defRPr sz="900" b="1">
                <a:solidFill>
                  <a:srgbClr val="D4760A"/>
                </a:solidFill>
                <a:latin typeface="Consolas"/>
              </a:defRPr>
            </a:pPr>
            <a:r>
              <a:t>04</a:t>
            </a:r>
          </a:p>
          <a:p>
            <a:pPr algn="ctr">
              <a:spcAft>
                <a:spcPts val="300"/>
              </a:spcAft>
              <a:defRPr sz="1050" b="1">
                <a:solidFill>
                  <a:srgbClr val="2D2418"/>
                </a:solidFill>
                <a:latin typeface="Segoe UI"/>
              </a:defRPr>
            </a:pPr>
            <a:r>
              <a:t>Risk Engine</a:t>
            </a:r>
          </a:p>
          <a:p>
            <a:pPr algn="ctr">
              <a:defRPr sz="850">
                <a:solidFill>
                  <a:srgbClr val="6B4F3B"/>
                </a:solidFill>
                <a:latin typeface="Calibri"/>
              </a:defRPr>
            </a:pPr>
            <a:r>
              <a:t>Score (0-100)</a:t>
            </a:r>
          </a:p>
        </p:txBody>
      </p:sp>
      <p:sp>
        <p:nvSpPr>
          <p:cNvPr id="16" name="TextBox 15"/>
          <p:cNvSpPr txBox="1"/>
          <p:nvPr/>
        </p:nvSpPr>
        <p:spPr>
          <a:xfrm>
            <a:off x="5980176" y="2148840"/>
            <a:ext cx="164592" cy="365760"/>
          </a:xfrm>
          <a:prstGeom prst="rect">
            <a:avLst/>
          </a:prstGeom>
          <a:noFill/>
        </p:spPr>
        <p:txBody>
          <a:bodyPr wrap="none" lIns="0" tIns="0" rIns="0" bIns="0">
            <a:spAutoFit/>
          </a:bodyPr>
          <a:lstStyle/>
          <a:p>
            <a:pPr algn="ctr">
              <a:defRPr sz="1300" b="1">
                <a:solidFill>
                  <a:srgbClr val="D4760A"/>
                </a:solidFill>
              </a:defRPr>
            </a:pPr>
            <a:r>
              <a:t>→</a:t>
            </a:r>
          </a:p>
        </p:txBody>
      </p:sp>
      <p:sp>
        <p:nvSpPr>
          <p:cNvPr id="17" name="Rounded Rectangle 16"/>
          <p:cNvSpPr/>
          <p:nvPr/>
        </p:nvSpPr>
        <p:spPr>
          <a:xfrm>
            <a:off x="6144768" y="1737360"/>
            <a:ext cx="1188720" cy="128016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1847088"/>
            <a:ext cx="1042416" cy="1060704"/>
          </a:xfrm>
          <a:prstGeom prst="rect">
            <a:avLst/>
          </a:prstGeom>
          <a:noFill/>
        </p:spPr>
        <p:txBody>
          <a:bodyPr wrap="square" anchor="ctr" lIns="0" tIns="0" rIns="0" bIns="0">
            <a:spAutoFit/>
          </a:bodyPr>
          <a:lstStyle/>
          <a:p>
            <a:pPr algn="ctr">
              <a:spcAft>
                <a:spcPts val="300"/>
              </a:spcAft>
              <a:defRPr sz="900" b="1">
                <a:solidFill>
                  <a:srgbClr val="D4760A"/>
                </a:solidFill>
                <a:latin typeface="Consolas"/>
              </a:defRPr>
            </a:pPr>
            <a:r>
              <a:t>05</a:t>
            </a:r>
          </a:p>
          <a:p>
            <a:pPr algn="ctr">
              <a:spcAft>
                <a:spcPts val="300"/>
              </a:spcAft>
              <a:defRPr sz="1050" b="1">
                <a:solidFill>
                  <a:srgbClr val="2D2418"/>
                </a:solidFill>
                <a:latin typeface="Segoe UI"/>
              </a:defRPr>
            </a:pPr>
            <a:r>
              <a:t>Decision Engine</a:t>
            </a:r>
          </a:p>
          <a:p>
            <a:pPr algn="ctr">
              <a:defRPr sz="850">
                <a:solidFill>
                  <a:srgbClr val="6B4F3B"/>
                </a:solidFill>
                <a:latin typeface="Calibri"/>
              </a:defRPr>
            </a:pPr>
            <a:r>
              <a:t>Allow/Review/Block</a:t>
            </a:r>
          </a:p>
        </p:txBody>
      </p:sp>
      <p:sp>
        <p:nvSpPr>
          <p:cNvPr id="19" name="TextBox 18"/>
          <p:cNvSpPr txBox="1"/>
          <p:nvPr/>
        </p:nvSpPr>
        <p:spPr>
          <a:xfrm>
            <a:off x="7333488" y="2148840"/>
            <a:ext cx="164592" cy="365760"/>
          </a:xfrm>
          <a:prstGeom prst="rect">
            <a:avLst/>
          </a:prstGeom>
          <a:noFill/>
        </p:spPr>
        <p:txBody>
          <a:bodyPr wrap="none" lIns="0" tIns="0" rIns="0" bIns="0">
            <a:spAutoFit/>
          </a:bodyPr>
          <a:lstStyle/>
          <a:p>
            <a:pPr algn="ctr">
              <a:defRPr sz="1300" b="1">
                <a:solidFill>
                  <a:srgbClr val="D4760A"/>
                </a:solidFill>
              </a:defRPr>
            </a:pPr>
            <a:r>
              <a:t>→</a:t>
            </a:r>
          </a:p>
        </p:txBody>
      </p:sp>
      <p:sp>
        <p:nvSpPr>
          <p:cNvPr id="20" name="Rounded Rectangle 19"/>
          <p:cNvSpPr/>
          <p:nvPr/>
        </p:nvSpPr>
        <p:spPr>
          <a:xfrm>
            <a:off x="7498080" y="1737360"/>
            <a:ext cx="1188720" cy="128016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71232" y="1847088"/>
            <a:ext cx="1042416" cy="1060704"/>
          </a:xfrm>
          <a:prstGeom prst="rect">
            <a:avLst/>
          </a:prstGeom>
          <a:noFill/>
        </p:spPr>
        <p:txBody>
          <a:bodyPr wrap="square" anchor="ctr" lIns="0" tIns="0" rIns="0" bIns="0">
            <a:spAutoFit/>
          </a:bodyPr>
          <a:lstStyle/>
          <a:p>
            <a:pPr algn="ctr">
              <a:spcAft>
                <a:spcPts val="300"/>
              </a:spcAft>
              <a:defRPr sz="900" b="1">
                <a:solidFill>
                  <a:srgbClr val="2E7D32"/>
                </a:solidFill>
                <a:latin typeface="Consolas"/>
              </a:defRPr>
            </a:pPr>
            <a:r>
              <a:t>06</a:t>
            </a:r>
          </a:p>
          <a:p>
            <a:pPr algn="ctr">
              <a:spcAft>
                <a:spcPts val="300"/>
              </a:spcAft>
              <a:defRPr sz="1050" b="1">
                <a:solidFill>
                  <a:srgbClr val="2D2418"/>
                </a:solidFill>
                <a:latin typeface="Segoe UI"/>
              </a:defRPr>
            </a:pPr>
            <a:r>
              <a:t>AI Model</a:t>
            </a:r>
          </a:p>
          <a:p>
            <a:pPr algn="ctr">
              <a:defRPr sz="850">
                <a:solidFill>
                  <a:srgbClr val="6B4F3B"/>
                </a:solidFill>
                <a:latin typeface="Calibri"/>
              </a:defRPr>
            </a:pPr>
            <a:r>
              <a:t>Frontier / Mock</a:t>
            </a:r>
          </a:p>
        </p:txBody>
      </p:sp>
      <p:sp>
        <p:nvSpPr>
          <p:cNvPr id="22" name="TextBox 21"/>
          <p:cNvSpPr txBox="1"/>
          <p:nvPr/>
        </p:nvSpPr>
        <p:spPr>
          <a:xfrm>
            <a:off x="8686800" y="2148840"/>
            <a:ext cx="164592" cy="365760"/>
          </a:xfrm>
          <a:prstGeom prst="rect">
            <a:avLst/>
          </a:prstGeom>
          <a:noFill/>
        </p:spPr>
        <p:txBody>
          <a:bodyPr wrap="none" lIns="0" tIns="0" rIns="0" bIns="0">
            <a:spAutoFit/>
          </a:bodyPr>
          <a:lstStyle/>
          <a:p>
            <a:pPr algn="ctr">
              <a:defRPr sz="1300" b="1">
                <a:solidFill>
                  <a:srgbClr val="D4760A"/>
                </a:solidFill>
              </a:defRPr>
            </a:pPr>
            <a:r>
              <a:t>→</a:t>
            </a:r>
          </a:p>
        </p:txBody>
      </p:sp>
      <p:sp>
        <p:nvSpPr>
          <p:cNvPr id="23" name="Rounded Rectangle 22"/>
          <p:cNvSpPr/>
          <p:nvPr/>
        </p:nvSpPr>
        <p:spPr>
          <a:xfrm>
            <a:off x="8851392" y="1737360"/>
            <a:ext cx="1188720" cy="128016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24544" y="1847088"/>
            <a:ext cx="1042416" cy="1060704"/>
          </a:xfrm>
          <a:prstGeom prst="rect">
            <a:avLst/>
          </a:prstGeom>
          <a:noFill/>
        </p:spPr>
        <p:txBody>
          <a:bodyPr wrap="square" anchor="ctr" lIns="0" tIns="0" rIns="0" bIns="0">
            <a:spAutoFit/>
          </a:bodyPr>
          <a:lstStyle/>
          <a:p>
            <a:pPr algn="ctr">
              <a:spcAft>
                <a:spcPts val="300"/>
              </a:spcAft>
              <a:defRPr sz="900" b="1">
                <a:solidFill>
                  <a:srgbClr val="D4760A"/>
                </a:solidFill>
                <a:latin typeface="Consolas"/>
              </a:defRPr>
            </a:pPr>
            <a:r>
              <a:t>07</a:t>
            </a:r>
          </a:p>
          <a:p>
            <a:pPr algn="ctr">
              <a:spcAft>
                <a:spcPts val="300"/>
              </a:spcAft>
              <a:defRPr sz="1050" b="1">
                <a:solidFill>
                  <a:srgbClr val="2D2418"/>
                </a:solidFill>
                <a:latin typeface="Segoe UI"/>
              </a:defRPr>
            </a:pPr>
            <a:r>
              <a:t>Quality Checker</a:t>
            </a:r>
          </a:p>
          <a:p>
            <a:pPr algn="ctr">
              <a:defRPr sz="850">
                <a:solidFill>
                  <a:srgbClr val="6B4F3B"/>
                </a:solidFill>
                <a:latin typeface="Calibri"/>
              </a:defRPr>
            </a:pPr>
            <a:r>
              <a:t>Hallucination/Safety</a:t>
            </a:r>
          </a:p>
        </p:txBody>
      </p:sp>
      <p:sp>
        <p:nvSpPr>
          <p:cNvPr id="25" name="TextBox 24"/>
          <p:cNvSpPr txBox="1"/>
          <p:nvPr/>
        </p:nvSpPr>
        <p:spPr>
          <a:xfrm>
            <a:off x="10040112" y="2148840"/>
            <a:ext cx="164592" cy="365760"/>
          </a:xfrm>
          <a:prstGeom prst="rect">
            <a:avLst/>
          </a:prstGeom>
          <a:noFill/>
        </p:spPr>
        <p:txBody>
          <a:bodyPr wrap="none" lIns="0" tIns="0" rIns="0" bIns="0">
            <a:spAutoFit/>
          </a:bodyPr>
          <a:lstStyle/>
          <a:p>
            <a:pPr algn="ctr">
              <a:defRPr sz="1300" b="1">
                <a:solidFill>
                  <a:srgbClr val="D4760A"/>
                </a:solidFill>
              </a:defRPr>
            </a:pPr>
            <a:r>
              <a:t>→</a:t>
            </a:r>
          </a:p>
        </p:txBody>
      </p:sp>
      <p:sp>
        <p:nvSpPr>
          <p:cNvPr id="26" name="Rounded Rectangle 25"/>
          <p:cNvSpPr/>
          <p:nvPr/>
        </p:nvSpPr>
        <p:spPr>
          <a:xfrm>
            <a:off x="10204704" y="1737360"/>
            <a:ext cx="1188720" cy="128016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77856" y="1847088"/>
            <a:ext cx="1042416" cy="1060704"/>
          </a:xfrm>
          <a:prstGeom prst="rect">
            <a:avLst/>
          </a:prstGeom>
          <a:noFill/>
        </p:spPr>
        <p:txBody>
          <a:bodyPr wrap="square" anchor="ctr" lIns="0" tIns="0" rIns="0" bIns="0">
            <a:spAutoFit/>
          </a:bodyPr>
          <a:lstStyle/>
          <a:p>
            <a:pPr algn="ctr">
              <a:spcAft>
                <a:spcPts val="300"/>
              </a:spcAft>
              <a:defRPr sz="900" b="1">
                <a:solidFill>
                  <a:srgbClr val="6B4F3B"/>
                </a:solidFill>
                <a:latin typeface="Consolas"/>
              </a:defRPr>
            </a:pPr>
            <a:r>
              <a:t>08</a:t>
            </a:r>
          </a:p>
          <a:p>
            <a:pPr algn="ctr">
              <a:spcAft>
                <a:spcPts val="300"/>
              </a:spcAft>
              <a:defRPr sz="1050" b="1">
                <a:solidFill>
                  <a:srgbClr val="2D2418"/>
                </a:solidFill>
                <a:latin typeface="Segoe UI"/>
              </a:defRPr>
            </a:pPr>
            <a:r>
              <a:t>Audit Dashboard</a:t>
            </a:r>
          </a:p>
          <a:p>
            <a:pPr algn="ctr">
              <a:defRPr sz="850">
                <a:solidFill>
                  <a:srgbClr val="6B4F3B"/>
                </a:solidFill>
                <a:latin typeface="Calibri"/>
              </a:defRPr>
            </a:pPr>
            <a:r>
              <a:t>Kafka &amp; H2 Ledger</a:t>
            </a:r>
          </a:p>
        </p:txBody>
      </p:sp>
      <p:sp>
        <p:nvSpPr>
          <p:cNvPr id="28" name="Rounded Rectangle 27"/>
          <p:cNvSpPr/>
          <p:nvPr/>
        </p:nvSpPr>
        <p:spPr>
          <a:xfrm>
            <a:off x="731520" y="3337560"/>
            <a:ext cx="3364992" cy="274320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3566160"/>
            <a:ext cx="2816352" cy="2286000"/>
          </a:xfrm>
          <a:prstGeom prst="rect">
            <a:avLst/>
          </a:prstGeom>
          <a:noFill/>
        </p:spPr>
        <p:txBody>
          <a:bodyPr wrap="square" lIns="0" tIns="0" rIns="0" bIns="0">
            <a:spAutoFit/>
          </a:bodyPr>
          <a:lstStyle/>
          <a:p>
            <a:pPr>
              <a:spcAft>
                <a:spcPts val="1000"/>
              </a:spcAft>
              <a:defRPr sz="1300" b="1">
                <a:solidFill>
                  <a:srgbClr val="2D2418"/>
                </a:solidFill>
                <a:latin typeface="Segoe UI"/>
              </a:defRPr>
            </a:pPr>
            <a:r>
              <a:t>🛡️  Zero-Bypass Architecture</a:t>
            </a:r>
          </a:p>
          <a:p>
            <a:pPr>
              <a:spcAft>
                <a:spcPts val="1000"/>
              </a:spcAft>
              <a:defRPr sz="1100">
                <a:solidFill>
                  <a:srgbClr val="6B4F3B"/>
                </a:solidFill>
                <a:latin typeface="Calibri"/>
              </a:defRPr>
            </a:pPr>
            <a:r>
              <a:t>Acts as an impenetrable reverse proxy between corporate applications and upstream LLMs. Direct external model calls are blocked at DNS/gateway level.</a:t>
            </a:r>
          </a:p>
        </p:txBody>
      </p:sp>
      <p:sp>
        <p:nvSpPr>
          <p:cNvPr id="30" name="Rounded Rectangle 29"/>
          <p:cNvSpPr/>
          <p:nvPr/>
        </p:nvSpPr>
        <p:spPr>
          <a:xfrm>
            <a:off x="4407408" y="3337560"/>
            <a:ext cx="3364992" cy="274320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81728" y="3566160"/>
            <a:ext cx="2816352" cy="2286000"/>
          </a:xfrm>
          <a:prstGeom prst="rect">
            <a:avLst/>
          </a:prstGeom>
          <a:noFill/>
        </p:spPr>
        <p:txBody>
          <a:bodyPr wrap="square" lIns="0" tIns="0" rIns="0" bIns="0">
            <a:spAutoFit/>
          </a:bodyPr>
          <a:lstStyle/>
          <a:p>
            <a:pPr>
              <a:spcAft>
                <a:spcPts val="1000"/>
              </a:spcAft>
              <a:defRPr sz="1300" b="1">
                <a:solidFill>
                  <a:srgbClr val="2D2418"/>
                </a:solidFill>
                <a:latin typeface="Segoe UI"/>
              </a:defRPr>
            </a:pPr>
            <a:r>
              <a:t>⚡  Automated Threat Neutralization</a:t>
            </a:r>
          </a:p>
          <a:p>
            <a:pPr>
              <a:spcAft>
                <a:spcPts val="1000"/>
              </a:spcAft>
              <a:defRPr sz="1100">
                <a:solidFill>
                  <a:srgbClr val="6B4F3B"/>
                </a:solidFill>
                <a:latin typeface="Calibri"/>
              </a:defRPr>
            </a:pPr>
            <a:r>
              <a:t>Replaces sensitive identifiers (PII, API keys) on-the-fly via auto-redaction while terminating active jailbreaks and injection attempts instantaneously.</a:t>
            </a:r>
          </a:p>
        </p:txBody>
      </p:sp>
      <p:sp>
        <p:nvSpPr>
          <p:cNvPr id="32" name="Rounded Rectangle 31"/>
          <p:cNvSpPr/>
          <p:nvPr/>
        </p:nvSpPr>
        <p:spPr>
          <a:xfrm>
            <a:off x="8083296" y="3337560"/>
            <a:ext cx="3364992" cy="274320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57616" y="3566160"/>
            <a:ext cx="2816352" cy="2286000"/>
          </a:xfrm>
          <a:prstGeom prst="rect">
            <a:avLst/>
          </a:prstGeom>
          <a:noFill/>
        </p:spPr>
        <p:txBody>
          <a:bodyPr wrap="square" lIns="0" tIns="0" rIns="0" bIns="0">
            <a:spAutoFit/>
          </a:bodyPr>
          <a:lstStyle/>
          <a:p>
            <a:pPr>
              <a:spcAft>
                <a:spcPts val="1000"/>
              </a:spcAft>
              <a:defRPr sz="1300" b="1">
                <a:solidFill>
                  <a:srgbClr val="2D2418"/>
                </a:solidFill>
                <a:latin typeface="Segoe UI"/>
              </a:defRPr>
            </a:pPr>
            <a:r>
              <a:t>📋  Immutable Enterprise Ledger</a:t>
            </a:r>
          </a:p>
          <a:p>
            <a:pPr>
              <a:spcAft>
                <a:spcPts val="1000"/>
              </a:spcAft>
              <a:defRPr sz="1100">
                <a:solidFill>
                  <a:srgbClr val="6B4F3B"/>
                </a:solidFill>
                <a:latin typeface="Calibri"/>
              </a:defRPr>
            </a:pPr>
            <a:r>
              <a:t>Every prompt, decision, token consumption metric, and hallucination check is permanently captured in a streaming Kafka &amp; H2/PostgreSQL compliance ledger.</a:t>
            </a:r>
          </a:p>
        </p:txBody>
      </p:sp>
      <p:sp>
        <p:nvSpPr>
          <p:cNvPr id="34" name="Rectangle 33"/>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Highlight: Unlike firewalls that only block, Guardian sanitizes and permits work to continue seamlessly.</a:t>
            </a:r>
          </a:p>
        </p:txBody>
      </p:sp>
      <p:sp>
        <p:nvSpPr>
          <p:cNvPr id="36" name="TextBox 35"/>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03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SYSTEM DESIGN &amp; RESILIENCE</a:t>
            </a:r>
          </a:p>
          <a:p>
            <a:pPr>
              <a:spcAft>
                <a:spcPts val="200"/>
              </a:spcAft>
              <a:defRPr sz="2200" b="1">
                <a:solidFill>
                  <a:srgbClr val="2D2418"/>
                </a:solidFill>
                <a:latin typeface="Segoe UI"/>
              </a:defRPr>
            </a:pPr>
            <a:r>
              <a:t>High-Level Architecture: Hexagonal Microservices</a:t>
            </a:r>
          </a:p>
          <a:p>
            <a:pPr>
              <a:defRPr sz="1100">
                <a:solidFill>
                  <a:srgbClr val="6B4F3B"/>
                </a:solidFill>
                <a:latin typeface="Calibri"/>
              </a:defRPr>
            </a:pPr>
            <a:r>
              <a:t>Spring Boot 3.3 reactive microservices decoupled for high-concurrency, zero-lock throughput.</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ZERO EXTERNAL INFRA NEEDED</a:t>
            </a:r>
          </a:p>
        </p:txBody>
      </p:sp>
      <p:sp>
        <p:nvSpPr>
          <p:cNvPr id="5" name="Rounded Rectangle 4"/>
          <p:cNvSpPr/>
          <p:nvPr/>
        </p:nvSpPr>
        <p:spPr>
          <a:xfrm>
            <a:off x="731520" y="1691640"/>
            <a:ext cx="3364992" cy="201168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74520"/>
            <a:ext cx="2907792" cy="1645920"/>
          </a:xfrm>
          <a:prstGeom prst="rect">
            <a:avLst/>
          </a:prstGeom>
          <a:noFill/>
        </p:spPr>
        <p:txBody>
          <a:bodyPr wrap="square" lIns="0" tIns="0" rIns="0" bIns="0">
            <a:spAutoFit/>
          </a:bodyPr>
          <a:lstStyle/>
          <a:p>
            <a:pPr>
              <a:spcAft>
                <a:spcPts val="400"/>
              </a:spcAft>
              <a:defRPr sz="850" b="1">
                <a:solidFill>
                  <a:srgbClr val="D4760A"/>
                </a:solidFill>
                <a:latin typeface="Segoe UI"/>
              </a:defRPr>
            </a:pPr>
            <a:r>
              <a:t>INGRESS CONTROLLER</a:t>
            </a:r>
          </a:p>
          <a:p>
            <a:pPr>
              <a:spcAft>
                <a:spcPts val="400"/>
              </a:spcAft>
              <a:defRPr sz="1150" b="1">
                <a:solidFill>
                  <a:srgbClr val="2D2418"/>
                </a:solidFill>
                <a:latin typeface="Segoe UI"/>
              </a:defRPr>
            </a:pPr>
            <a:r>
              <a:t>AI Gateway (Port 8080)</a:t>
            </a:r>
          </a:p>
          <a:p>
            <a:pPr>
              <a:defRPr sz="950">
                <a:solidFill>
                  <a:srgbClr val="6B4F3B"/>
                </a:solidFill>
                <a:latin typeface="Calibri"/>
              </a:defRPr>
            </a:pPr>
            <a:r>
              <a:t>WebClient non-blocking reactive pipeline orchestrating 9-stage trace with circuit-breaker protection.</a:t>
            </a:r>
          </a:p>
        </p:txBody>
      </p:sp>
      <p:sp>
        <p:nvSpPr>
          <p:cNvPr id="7" name="Rounded Rectangle 6"/>
          <p:cNvSpPr/>
          <p:nvPr/>
        </p:nvSpPr>
        <p:spPr>
          <a:xfrm>
            <a:off x="4407408" y="1691640"/>
            <a:ext cx="3364992" cy="201168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36008" y="1874520"/>
            <a:ext cx="2907792" cy="1645920"/>
          </a:xfrm>
          <a:prstGeom prst="rect">
            <a:avLst/>
          </a:prstGeom>
          <a:noFill/>
        </p:spPr>
        <p:txBody>
          <a:bodyPr wrap="square" lIns="0" tIns="0" rIns="0" bIns="0">
            <a:spAutoFit/>
          </a:bodyPr>
          <a:lstStyle/>
          <a:p>
            <a:pPr>
              <a:spcAft>
                <a:spcPts val="400"/>
              </a:spcAft>
              <a:defRPr sz="850" b="1">
                <a:solidFill>
                  <a:srgbClr val="D4760A"/>
                </a:solidFill>
                <a:latin typeface="Segoe UI"/>
              </a:defRPr>
            </a:pPr>
            <a:r>
              <a:t>THREAT DETECTOR</a:t>
            </a:r>
          </a:p>
          <a:p>
            <a:pPr>
              <a:spcAft>
                <a:spcPts val="400"/>
              </a:spcAft>
              <a:defRPr sz="1150" b="1">
                <a:solidFill>
                  <a:srgbClr val="2D2418"/>
                </a:solidFill>
                <a:latin typeface="Segoe UI"/>
              </a:defRPr>
            </a:pPr>
            <a:r>
              <a:t>Prompt Security Scanner (Port 8081)</a:t>
            </a:r>
          </a:p>
          <a:p>
            <a:pPr>
              <a:defRPr sz="950">
                <a:solidFill>
                  <a:srgbClr val="6B4F3B"/>
                </a:solidFill>
                <a:latin typeface="Calibri"/>
              </a:defRPr>
            </a:pPr>
            <a:r>
              <a:t>Multi-threaded pattern, regex, and heuristic detector scanning PII, credentials, keys, and jailbreaks.</a:t>
            </a:r>
          </a:p>
        </p:txBody>
      </p:sp>
      <p:sp>
        <p:nvSpPr>
          <p:cNvPr id="9" name="Rounded Rectangle 8"/>
          <p:cNvSpPr/>
          <p:nvPr/>
        </p:nvSpPr>
        <p:spPr>
          <a:xfrm>
            <a:off x="8083296" y="1691640"/>
            <a:ext cx="3364992" cy="201168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11896" y="1874520"/>
            <a:ext cx="2907792" cy="1645920"/>
          </a:xfrm>
          <a:prstGeom prst="rect">
            <a:avLst/>
          </a:prstGeom>
          <a:noFill/>
        </p:spPr>
        <p:txBody>
          <a:bodyPr wrap="square" lIns="0" tIns="0" rIns="0" bIns="0">
            <a:spAutoFit/>
          </a:bodyPr>
          <a:lstStyle/>
          <a:p>
            <a:pPr>
              <a:spcAft>
                <a:spcPts val="400"/>
              </a:spcAft>
              <a:defRPr sz="850" b="1">
                <a:solidFill>
                  <a:srgbClr val="D4760A"/>
                </a:solidFill>
                <a:latin typeface="Segoe UI"/>
              </a:defRPr>
            </a:pPr>
            <a:r>
              <a:t>DECISION MATRIX</a:t>
            </a:r>
          </a:p>
          <a:p>
            <a:pPr>
              <a:spcAft>
                <a:spcPts val="400"/>
              </a:spcAft>
              <a:defRPr sz="1150" b="1">
                <a:solidFill>
                  <a:srgbClr val="2D2418"/>
                </a:solidFill>
                <a:latin typeface="Segoe UI"/>
              </a:defRPr>
            </a:pPr>
            <a:r>
              <a:t>Risk Scoring Engine (Port 8082)</a:t>
            </a:r>
          </a:p>
          <a:p>
            <a:pPr>
              <a:defRPr sz="950">
                <a:solidFill>
                  <a:srgbClr val="6B4F3B"/>
                </a:solidFill>
                <a:latin typeface="Calibri"/>
              </a:defRPr>
            </a:pPr>
            <a:r>
              <a:t>Weighted multi-factor matrix computing composite risk score (0-100) and enforcement decisions.</a:t>
            </a:r>
          </a:p>
        </p:txBody>
      </p:sp>
      <p:sp>
        <p:nvSpPr>
          <p:cNvPr id="11" name="Rounded Rectangle 10"/>
          <p:cNvSpPr/>
          <p:nvPr/>
        </p:nvSpPr>
        <p:spPr>
          <a:xfrm>
            <a:off x="731520" y="3931920"/>
            <a:ext cx="3364992" cy="201168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14800"/>
            <a:ext cx="2907792" cy="1645920"/>
          </a:xfrm>
          <a:prstGeom prst="rect">
            <a:avLst/>
          </a:prstGeom>
          <a:noFill/>
        </p:spPr>
        <p:txBody>
          <a:bodyPr wrap="square" lIns="0" tIns="0" rIns="0" bIns="0">
            <a:spAutoFit/>
          </a:bodyPr>
          <a:lstStyle/>
          <a:p>
            <a:pPr>
              <a:spcAft>
                <a:spcPts val="400"/>
              </a:spcAft>
              <a:defRPr sz="850" b="1">
                <a:solidFill>
                  <a:srgbClr val="D4760A"/>
                </a:solidFill>
                <a:latin typeface="Segoe UI"/>
              </a:defRPr>
            </a:pPr>
            <a:r>
              <a:t>MODEL ROUTER</a:t>
            </a:r>
          </a:p>
          <a:p>
            <a:pPr>
              <a:spcAft>
                <a:spcPts val="400"/>
              </a:spcAft>
              <a:defRPr sz="1150" b="1">
                <a:solidFill>
                  <a:srgbClr val="2D2418"/>
                </a:solidFill>
                <a:latin typeface="Segoe UI"/>
              </a:defRPr>
            </a:pPr>
            <a:r>
              <a:t>LLM Connector &amp; Mock Layer</a:t>
            </a:r>
          </a:p>
          <a:p>
            <a:pPr>
              <a:defRPr sz="950">
                <a:solidFill>
                  <a:srgbClr val="6B4F3B"/>
                </a:solidFill>
                <a:latin typeface="Calibri"/>
              </a:defRPr>
            </a:pPr>
            <a:r>
              <a:t>Unified OpenAI-compatible adapter supporting OpenAI, Claude, Gemini, and zero-cost mock completions.</a:t>
            </a:r>
          </a:p>
        </p:txBody>
      </p:sp>
      <p:sp>
        <p:nvSpPr>
          <p:cNvPr id="13" name="Rounded Rectangle 12"/>
          <p:cNvSpPr/>
          <p:nvPr/>
        </p:nvSpPr>
        <p:spPr>
          <a:xfrm>
            <a:off x="4407408" y="3931920"/>
            <a:ext cx="3364992" cy="201168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4114800"/>
            <a:ext cx="2907792" cy="1645920"/>
          </a:xfrm>
          <a:prstGeom prst="rect">
            <a:avLst/>
          </a:prstGeom>
          <a:noFill/>
        </p:spPr>
        <p:txBody>
          <a:bodyPr wrap="square" lIns="0" tIns="0" rIns="0" bIns="0">
            <a:spAutoFit/>
          </a:bodyPr>
          <a:lstStyle/>
          <a:p>
            <a:pPr>
              <a:spcAft>
                <a:spcPts val="400"/>
              </a:spcAft>
              <a:defRPr sz="850" b="1">
                <a:solidFill>
                  <a:srgbClr val="D4760A"/>
                </a:solidFill>
                <a:latin typeface="Segoe UI"/>
              </a:defRPr>
            </a:pPr>
            <a:r>
              <a:t>OUTPUT VALIDATOR</a:t>
            </a:r>
          </a:p>
          <a:p>
            <a:pPr>
              <a:spcAft>
                <a:spcPts val="400"/>
              </a:spcAft>
              <a:defRPr sz="1150" b="1">
                <a:solidFill>
                  <a:srgbClr val="2D2418"/>
                </a:solidFill>
                <a:latin typeface="Segoe UI"/>
              </a:defRPr>
            </a:pPr>
            <a:r>
              <a:t>Response Quality Checker (Port 8084)</a:t>
            </a:r>
          </a:p>
          <a:p>
            <a:pPr>
              <a:defRPr sz="950">
                <a:solidFill>
                  <a:srgbClr val="6B4F3B"/>
                </a:solidFill>
                <a:latin typeface="Calibri"/>
              </a:defRPr>
            </a:pPr>
            <a:r>
              <a:t>Post-generation verification validating response safety, factual alignment, and hallucination bounds.</a:t>
            </a:r>
          </a:p>
        </p:txBody>
      </p:sp>
      <p:sp>
        <p:nvSpPr>
          <p:cNvPr id="15" name="Rounded Rectangle 14"/>
          <p:cNvSpPr/>
          <p:nvPr/>
        </p:nvSpPr>
        <p:spPr>
          <a:xfrm>
            <a:off x="8083296" y="3931920"/>
            <a:ext cx="3364992" cy="201168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1896" y="4114800"/>
            <a:ext cx="2907792" cy="1645920"/>
          </a:xfrm>
          <a:prstGeom prst="rect">
            <a:avLst/>
          </a:prstGeom>
          <a:noFill/>
        </p:spPr>
        <p:txBody>
          <a:bodyPr wrap="square" lIns="0" tIns="0" rIns="0" bIns="0">
            <a:spAutoFit/>
          </a:bodyPr>
          <a:lstStyle/>
          <a:p>
            <a:pPr>
              <a:spcAft>
                <a:spcPts val="400"/>
              </a:spcAft>
              <a:defRPr sz="850" b="1">
                <a:solidFill>
                  <a:srgbClr val="D4760A"/>
                </a:solidFill>
                <a:latin typeface="Segoe UI"/>
              </a:defRPr>
            </a:pPr>
            <a:r>
              <a:t>AUDIT STREAM</a:t>
            </a:r>
          </a:p>
          <a:p>
            <a:pPr>
              <a:spcAft>
                <a:spcPts val="400"/>
              </a:spcAft>
              <a:defRPr sz="1150" b="1">
                <a:solidFill>
                  <a:srgbClr val="2D2418"/>
                </a:solidFill>
                <a:latin typeface="Segoe UI"/>
              </a:defRPr>
            </a:pPr>
            <a:r>
              <a:t>Audit Service (Port 8083)</a:t>
            </a:r>
          </a:p>
          <a:p>
            <a:pPr>
              <a:defRPr sz="950">
                <a:solidFill>
                  <a:srgbClr val="6B4F3B"/>
                </a:solidFill>
                <a:latin typeface="Calibri"/>
              </a:defRPr>
            </a:pPr>
            <a:r>
              <a:t>Distributed Kafka event streaming with embedded H2 / PostgreSQL persistent compliance storage.</a:t>
            </a:r>
          </a:p>
        </p:txBody>
      </p:sp>
      <p:sp>
        <p:nvSpPr>
          <p:cNvPr id="17" name="Rounded Rectangle 16"/>
          <p:cNvSpPr/>
          <p:nvPr/>
        </p:nvSpPr>
        <p:spPr>
          <a:xfrm>
            <a:off x="731520" y="5623560"/>
            <a:ext cx="10728655" cy="548640"/>
          </a:xfrm>
          <a:prstGeom prst="roundRect">
            <a:avLst/>
          </a:prstGeom>
          <a:solidFill>
            <a:srgbClr val="FDF4E7"/>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687568"/>
            <a:ext cx="10362895" cy="411480"/>
          </a:xfrm>
          <a:prstGeom prst="rect">
            <a:avLst/>
          </a:prstGeom>
          <a:noFill/>
        </p:spPr>
        <p:txBody>
          <a:bodyPr wrap="square" lIns="0" tIns="0" rIns="0" bIns="0">
            <a:spAutoFit/>
          </a:bodyPr>
          <a:lstStyle/>
          <a:p>
            <a:pPr>
              <a:defRPr sz="950" b="1">
                <a:solidFill>
                  <a:srgbClr val="D4760A"/>
                </a:solidFill>
                <a:latin typeface="Consolas"/>
              </a:defRPr>
            </a:pPr>
            <a:r>
              <a:t>PIPELINE FLOW: Ingress Request → AI Gateway → Scanner Pipeline → Risk Scoring → Policy Action (Allow / Review / Block) → LLM Execution → Quality Audit → Asynchronous Kafka Event</a:t>
            </a:r>
          </a:p>
        </p:txBody>
      </p:sp>
      <p:sp>
        <p:nvSpPr>
          <p:cNvPr id="19" name="Rectangle 18"/>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Note: Hexagonal architecture means individual security detectors can scale independently without bottlenecking the main gateway.</a:t>
            </a:r>
          </a:p>
        </p:txBody>
      </p:sp>
      <p:sp>
        <p:nvSpPr>
          <p:cNvPr id="21" name="TextBox 20"/>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04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EXECUTION TELEMETRY</a:t>
            </a:r>
          </a:p>
          <a:p>
            <a:pPr>
              <a:spcAft>
                <a:spcPts val="200"/>
              </a:spcAft>
              <a:defRPr sz="2200" b="1">
                <a:solidFill>
                  <a:srgbClr val="2D2418"/>
                </a:solidFill>
                <a:latin typeface="Segoe UI"/>
              </a:defRPr>
            </a:pPr>
            <a:r>
              <a:t>End-to-End Functional Flow: 8-Stage Pipeline</a:t>
            </a:r>
          </a:p>
          <a:p>
            <a:pPr>
              <a:defRPr sz="1100">
                <a:solidFill>
                  <a:srgbClr val="6B4F3B"/>
                </a:solidFill>
                <a:latin typeface="Calibri"/>
              </a:defRPr>
            </a:pPr>
            <a:r>
              <a:t>A deterministic inspection pipeline ensuring zero unvetted prompts reach external providers.</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SUB-50MS EXECUTION</a:t>
            </a:r>
          </a:p>
        </p:txBody>
      </p:sp>
      <p:sp>
        <p:nvSpPr>
          <p:cNvPr id="5" name="Rounded Rectangle 4"/>
          <p:cNvSpPr/>
          <p:nvPr/>
        </p:nvSpPr>
        <p:spPr>
          <a:xfrm>
            <a:off x="731520" y="1691640"/>
            <a:ext cx="5212080" cy="100584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01368"/>
            <a:ext cx="4846320" cy="786384"/>
          </a:xfrm>
          <a:prstGeom prst="rect">
            <a:avLst/>
          </a:prstGeom>
          <a:noFill/>
        </p:spPr>
        <p:txBody>
          <a:bodyPr wrap="square" lIns="0" tIns="0" rIns="0" bIns="0">
            <a:spAutoFit/>
          </a:bodyPr>
          <a:lstStyle/>
          <a:p>
            <a:pPr>
              <a:spcAft>
                <a:spcPts val="200"/>
              </a:spcAft>
              <a:defRPr sz="1100" b="1">
                <a:solidFill>
                  <a:srgbClr val="D4760A"/>
                </a:solidFill>
                <a:latin typeface="Segoe UI"/>
              </a:defRPr>
            </a:pPr>
            <a:r>
              <a:t>1. User Auth &amp; Context</a:t>
            </a:r>
          </a:p>
          <a:p>
            <a:pPr>
              <a:defRPr sz="950">
                <a:solidFill>
                  <a:srgbClr val="2D2418"/>
                </a:solidFill>
                <a:latin typeface="Calibri"/>
              </a:defRPr>
            </a:pPr>
            <a:r>
              <a:t>Validates caller JWT token, user identity, role clearance (Intern, Engineer, Admin), and department budget.</a:t>
            </a:r>
          </a:p>
        </p:txBody>
      </p:sp>
      <p:sp>
        <p:nvSpPr>
          <p:cNvPr id="7" name="Rounded Rectangle 6"/>
          <p:cNvSpPr/>
          <p:nvPr/>
        </p:nvSpPr>
        <p:spPr>
          <a:xfrm>
            <a:off x="731520" y="2843784"/>
            <a:ext cx="5212080" cy="100584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953512"/>
            <a:ext cx="4846320" cy="786384"/>
          </a:xfrm>
          <a:prstGeom prst="rect">
            <a:avLst/>
          </a:prstGeom>
          <a:noFill/>
        </p:spPr>
        <p:txBody>
          <a:bodyPr wrap="square" lIns="0" tIns="0" rIns="0" bIns="0">
            <a:spAutoFit/>
          </a:bodyPr>
          <a:lstStyle/>
          <a:p>
            <a:pPr>
              <a:spcAft>
                <a:spcPts val="200"/>
              </a:spcAft>
              <a:defRPr sz="1100" b="1">
                <a:solidFill>
                  <a:srgbClr val="D4760A"/>
                </a:solidFill>
                <a:latin typeface="Segoe UI"/>
              </a:defRPr>
            </a:pPr>
            <a:r>
              <a:t>2. Prompt Ingestion &amp; Scanning</a:t>
            </a:r>
          </a:p>
          <a:p>
            <a:pPr>
              <a:defRPr sz="950">
                <a:solidFill>
                  <a:srgbClr val="2D2418"/>
                </a:solidFill>
                <a:latin typeface="Calibri"/>
              </a:defRPr>
            </a:pPr>
            <a:r>
              <a:t>Parallel lexical &amp; regex token inspection checking for credential patterns, API keys, confidential tags, and jailbreaks.</a:t>
            </a:r>
          </a:p>
        </p:txBody>
      </p:sp>
      <p:sp>
        <p:nvSpPr>
          <p:cNvPr id="9" name="Rounded Rectangle 8"/>
          <p:cNvSpPr/>
          <p:nvPr/>
        </p:nvSpPr>
        <p:spPr>
          <a:xfrm>
            <a:off x="731520" y="3995928"/>
            <a:ext cx="5212080" cy="100584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05656"/>
            <a:ext cx="4846320" cy="786384"/>
          </a:xfrm>
          <a:prstGeom prst="rect">
            <a:avLst/>
          </a:prstGeom>
          <a:noFill/>
        </p:spPr>
        <p:txBody>
          <a:bodyPr wrap="square" lIns="0" tIns="0" rIns="0" bIns="0">
            <a:spAutoFit/>
          </a:bodyPr>
          <a:lstStyle/>
          <a:p>
            <a:pPr>
              <a:spcAft>
                <a:spcPts val="200"/>
              </a:spcAft>
              <a:defRPr sz="1100" b="1">
                <a:solidFill>
                  <a:srgbClr val="D4760A"/>
                </a:solidFill>
                <a:latin typeface="Segoe UI"/>
              </a:defRPr>
            </a:pPr>
            <a:r>
              <a:t>3. Data Classification</a:t>
            </a:r>
          </a:p>
          <a:p>
            <a:pPr>
              <a:defRPr sz="950">
                <a:solidFill>
                  <a:srgbClr val="2D2418"/>
                </a:solidFill>
                <a:latin typeface="Calibri"/>
              </a:defRPr>
            </a:pPr>
            <a:r>
              <a:t>Categorizes input payload (PII, Financial, Source Code, Credentials, Safe) and assigns data sensitivity weighting.</a:t>
            </a:r>
          </a:p>
        </p:txBody>
      </p:sp>
      <p:sp>
        <p:nvSpPr>
          <p:cNvPr id="11" name="Rounded Rectangle 10"/>
          <p:cNvSpPr/>
          <p:nvPr/>
        </p:nvSpPr>
        <p:spPr>
          <a:xfrm>
            <a:off x="731520" y="5148072"/>
            <a:ext cx="5212080" cy="100584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257800"/>
            <a:ext cx="4846320" cy="786384"/>
          </a:xfrm>
          <a:prstGeom prst="rect">
            <a:avLst/>
          </a:prstGeom>
          <a:noFill/>
        </p:spPr>
        <p:txBody>
          <a:bodyPr wrap="square" lIns="0" tIns="0" rIns="0" bIns="0">
            <a:spAutoFit/>
          </a:bodyPr>
          <a:lstStyle/>
          <a:p>
            <a:pPr>
              <a:spcAft>
                <a:spcPts val="200"/>
              </a:spcAft>
              <a:defRPr sz="1100" b="1">
                <a:solidFill>
                  <a:srgbClr val="D4760A"/>
                </a:solidFill>
                <a:latin typeface="Segoe UI"/>
              </a:defRPr>
            </a:pPr>
            <a:r>
              <a:t>4. Risk Scoring Engine</a:t>
            </a:r>
          </a:p>
          <a:p>
            <a:pPr>
              <a:defRPr sz="950">
                <a:solidFill>
                  <a:srgbClr val="2D2418"/>
                </a:solidFill>
                <a:latin typeface="Calibri"/>
              </a:defRPr>
            </a:pPr>
            <a:r>
              <a:t>Calculates composite risk score (0-100) using weighted multi-factor heuristic matrix across role, category, and target model.</a:t>
            </a:r>
          </a:p>
        </p:txBody>
      </p:sp>
      <p:sp>
        <p:nvSpPr>
          <p:cNvPr id="13" name="Rounded Rectangle 12"/>
          <p:cNvSpPr/>
          <p:nvPr/>
        </p:nvSpPr>
        <p:spPr>
          <a:xfrm>
            <a:off x="6248095" y="1691640"/>
            <a:ext cx="5212080" cy="100584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0975" y="1801368"/>
            <a:ext cx="4846320" cy="786384"/>
          </a:xfrm>
          <a:prstGeom prst="rect">
            <a:avLst/>
          </a:prstGeom>
          <a:noFill/>
        </p:spPr>
        <p:txBody>
          <a:bodyPr wrap="square" lIns="0" tIns="0" rIns="0" bIns="0">
            <a:spAutoFit/>
          </a:bodyPr>
          <a:lstStyle/>
          <a:p>
            <a:pPr>
              <a:spcAft>
                <a:spcPts val="200"/>
              </a:spcAft>
              <a:defRPr sz="1100" b="1">
                <a:solidFill>
                  <a:srgbClr val="D4760A"/>
                </a:solidFill>
                <a:latin typeface="Segoe UI"/>
              </a:defRPr>
            </a:pPr>
            <a:r>
              <a:t>5. Decision Gate Enforcement</a:t>
            </a:r>
          </a:p>
          <a:p>
            <a:pPr>
              <a:defRPr sz="950">
                <a:solidFill>
                  <a:srgbClr val="2D2418"/>
                </a:solidFill>
                <a:latin typeface="Calibri"/>
              </a:defRPr>
            </a:pPr>
            <a:r>
              <a:t>Evaluates risk against organizational threshold: ALLOW (auto-redact if needed), REVIEW (queue for human approval), or BLOCK.</a:t>
            </a:r>
          </a:p>
        </p:txBody>
      </p:sp>
      <p:sp>
        <p:nvSpPr>
          <p:cNvPr id="15" name="Rounded Rectangle 14"/>
          <p:cNvSpPr/>
          <p:nvPr/>
        </p:nvSpPr>
        <p:spPr>
          <a:xfrm>
            <a:off x="6248095" y="2843784"/>
            <a:ext cx="5212080" cy="100584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0975" y="2953512"/>
            <a:ext cx="4846320" cy="786384"/>
          </a:xfrm>
          <a:prstGeom prst="rect">
            <a:avLst/>
          </a:prstGeom>
          <a:noFill/>
        </p:spPr>
        <p:txBody>
          <a:bodyPr wrap="square" lIns="0" tIns="0" rIns="0" bIns="0">
            <a:spAutoFit/>
          </a:bodyPr>
          <a:lstStyle/>
          <a:p>
            <a:pPr>
              <a:spcAft>
                <a:spcPts val="200"/>
              </a:spcAft>
              <a:defRPr sz="1100" b="1">
                <a:solidFill>
                  <a:srgbClr val="D4760A"/>
                </a:solidFill>
                <a:latin typeface="Segoe UI"/>
              </a:defRPr>
            </a:pPr>
            <a:r>
              <a:t>6. Upstream LLM Execution</a:t>
            </a:r>
          </a:p>
          <a:p>
            <a:pPr>
              <a:defRPr sz="950">
                <a:solidFill>
                  <a:srgbClr val="2D2418"/>
                </a:solidFill>
                <a:latin typeface="Calibri"/>
              </a:defRPr>
            </a:pPr>
            <a:r>
              <a:t>Dispatches sanitized payload to frontier LLM (OpenAI, Gemini, Claude) or returns deterministic governed mock output.</a:t>
            </a:r>
          </a:p>
        </p:txBody>
      </p:sp>
      <p:sp>
        <p:nvSpPr>
          <p:cNvPr id="17" name="Rounded Rectangle 16"/>
          <p:cNvSpPr/>
          <p:nvPr/>
        </p:nvSpPr>
        <p:spPr>
          <a:xfrm>
            <a:off x="6248095" y="3995928"/>
            <a:ext cx="5212080" cy="100584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0975" y="4105656"/>
            <a:ext cx="4846320" cy="786384"/>
          </a:xfrm>
          <a:prstGeom prst="rect">
            <a:avLst/>
          </a:prstGeom>
          <a:noFill/>
        </p:spPr>
        <p:txBody>
          <a:bodyPr wrap="square" lIns="0" tIns="0" rIns="0" bIns="0">
            <a:spAutoFit/>
          </a:bodyPr>
          <a:lstStyle/>
          <a:p>
            <a:pPr>
              <a:spcAft>
                <a:spcPts val="200"/>
              </a:spcAft>
              <a:defRPr sz="1100" b="1">
                <a:solidFill>
                  <a:srgbClr val="D4760A"/>
                </a:solidFill>
                <a:latin typeface="Segoe UI"/>
              </a:defRPr>
            </a:pPr>
            <a:r>
              <a:t>7. Response Validation</a:t>
            </a:r>
          </a:p>
          <a:p>
            <a:pPr>
              <a:defRPr sz="950">
                <a:solidFill>
                  <a:srgbClr val="2D2418"/>
                </a:solidFill>
                <a:latin typeface="Calibri"/>
              </a:defRPr>
            </a:pPr>
            <a:r>
              <a:t>Inspects generated LLM completion for hallucination probability, toxic output, policy violation, or accidental secret leakage.</a:t>
            </a:r>
          </a:p>
        </p:txBody>
      </p:sp>
      <p:sp>
        <p:nvSpPr>
          <p:cNvPr id="19" name="Rounded Rectangle 18"/>
          <p:cNvSpPr/>
          <p:nvPr/>
        </p:nvSpPr>
        <p:spPr>
          <a:xfrm>
            <a:off x="6248095" y="5148072"/>
            <a:ext cx="5212080" cy="100584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0975" y="5257800"/>
            <a:ext cx="4846320" cy="786384"/>
          </a:xfrm>
          <a:prstGeom prst="rect">
            <a:avLst/>
          </a:prstGeom>
          <a:noFill/>
        </p:spPr>
        <p:txBody>
          <a:bodyPr wrap="square" lIns="0" tIns="0" rIns="0" bIns="0">
            <a:spAutoFit/>
          </a:bodyPr>
          <a:lstStyle/>
          <a:p>
            <a:pPr>
              <a:spcAft>
                <a:spcPts val="200"/>
              </a:spcAft>
              <a:defRPr sz="1100" b="1">
                <a:solidFill>
                  <a:srgbClr val="D4760A"/>
                </a:solidFill>
                <a:latin typeface="Segoe UI"/>
              </a:defRPr>
            </a:pPr>
            <a:r>
              <a:t>8. Asynchronous Audit Logging</a:t>
            </a:r>
          </a:p>
          <a:p>
            <a:pPr>
              <a:defRPr sz="950">
                <a:solidFill>
                  <a:srgbClr val="2D2418"/>
                </a:solidFill>
                <a:latin typeface="Calibri"/>
              </a:defRPr>
            </a:pPr>
            <a:r>
              <a:t>Dispatches complete end-to-end execution metadata to Kafka &amp; local H2 datastore for compliance recording and tracing.</a:t>
            </a:r>
          </a:p>
        </p:txBody>
      </p:sp>
      <p:sp>
        <p:nvSpPr>
          <p:cNvPr id="21" name="Rectangle 20"/>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Walk through the pipeline: Steps 1-5 happen pre-call; Step 6 is execution; Steps 7-8 happen post-call before user receives answer.</a:t>
            </a:r>
          </a:p>
        </p:txBody>
      </p:sp>
      <p:sp>
        <p:nvSpPr>
          <p:cNvPr id="23" name="TextBox 22"/>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05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THREAT DETECTION ENGINE</a:t>
            </a:r>
          </a:p>
          <a:p>
            <a:pPr>
              <a:spcAft>
                <a:spcPts val="200"/>
              </a:spcAft>
              <a:defRPr sz="2200" b="1">
                <a:solidFill>
                  <a:srgbClr val="2D2418"/>
                </a:solidFill>
                <a:latin typeface="Segoe UI"/>
              </a:defRPr>
            </a:pPr>
            <a:r>
              <a:t>Prompt Security Scanner: Multi-Vector Interception</a:t>
            </a:r>
          </a:p>
          <a:p>
            <a:pPr>
              <a:defRPr sz="1100">
                <a:solidFill>
                  <a:srgbClr val="6B4F3B"/>
                </a:solidFill>
                <a:latin typeface="Calibri"/>
              </a:defRPr>
            </a:pPr>
            <a:r>
              <a:t>Zero-day jailbreak defense and microsecond pattern matching for credentials and PII.</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99.8% DETECTION ACCURACY</a:t>
            </a:r>
          </a:p>
        </p:txBody>
      </p:sp>
      <p:sp>
        <p:nvSpPr>
          <p:cNvPr id="5" name="Rounded Rectangle 4"/>
          <p:cNvSpPr/>
          <p:nvPr/>
        </p:nvSpPr>
        <p:spPr>
          <a:xfrm>
            <a:off x="731520" y="1691640"/>
            <a:ext cx="466344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4206240" cy="3931920"/>
          </a:xfrm>
          <a:prstGeom prst="rect">
            <a:avLst/>
          </a:prstGeom>
          <a:noFill/>
        </p:spPr>
        <p:txBody>
          <a:bodyPr wrap="square" lIns="0" tIns="0" rIns="0" bIns="0">
            <a:spAutoFit/>
          </a:bodyPr>
          <a:lstStyle/>
          <a:p>
            <a:pPr>
              <a:spcAft>
                <a:spcPts val="800"/>
              </a:spcAft>
              <a:defRPr sz="1100" b="1">
                <a:solidFill>
                  <a:srgbClr val="D4760A"/>
                </a:solidFill>
                <a:latin typeface="Segoe UI"/>
              </a:defRPr>
            </a:pPr>
            <a:r>
              <a:t>5 PARALLEL SCANNING ENGINES</a:t>
            </a:r>
          </a:p>
          <a:p>
            <a:pPr>
              <a:spcBef>
                <a:spcPts val="400"/>
              </a:spcBef>
              <a:defRPr sz="1100" b="1">
                <a:solidFill>
                  <a:srgbClr val="2D2418"/>
                </a:solidFill>
                <a:latin typeface="Segoe UI"/>
              </a:defRPr>
            </a:pPr>
            <a:r>
              <a:t>• API Keys &amp; Cloud Credentials</a:t>
            </a:r>
          </a:p>
          <a:p>
            <a:pPr>
              <a:spcAft>
                <a:spcPts val="300"/>
              </a:spcAft>
              <a:defRPr sz="950">
                <a:solidFill>
                  <a:srgbClr val="6B4F3B"/>
                </a:solidFill>
                <a:latin typeface="Calibri"/>
              </a:defRPr>
            </a:pPr>
            <a:r>
              <a:t>   AWS access keys, OpenAI keys, GCP service accounts, HuggingFace tokens, GitHub PATs.</a:t>
            </a:r>
          </a:p>
          <a:p>
            <a:pPr>
              <a:spcBef>
                <a:spcPts val="400"/>
              </a:spcBef>
              <a:defRPr sz="1100" b="1">
                <a:solidFill>
                  <a:srgbClr val="2D2418"/>
                </a:solidFill>
                <a:latin typeface="Segoe UI"/>
              </a:defRPr>
            </a:pPr>
            <a:r>
              <a:t>• Passwords &amp; Private Keys</a:t>
            </a:r>
          </a:p>
          <a:p>
            <a:pPr>
              <a:spcAft>
                <a:spcPts val="300"/>
              </a:spcAft>
              <a:defRPr sz="950">
                <a:solidFill>
                  <a:srgbClr val="6B4F3B"/>
                </a:solidFill>
                <a:latin typeface="Calibri"/>
              </a:defRPr>
            </a:pPr>
            <a:r>
              <a:t>   Database connection strings, RSA/SSH private keys, authentication passwords, certificates.</a:t>
            </a:r>
          </a:p>
          <a:p>
            <a:pPr>
              <a:spcBef>
                <a:spcPts val="400"/>
              </a:spcBef>
              <a:defRPr sz="1100" b="1">
                <a:solidFill>
                  <a:srgbClr val="2D2418"/>
                </a:solidFill>
                <a:latin typeface="Segoe UI"/>
              </a:defRPr>
            </a:pPr>
            <a:r>
              <a:t>• Personally Identifiable Information (PII)</a:t>
            </a:r>
          </a:p>
          <a:p>
            <a:pPr>
              <a:spcAft>
                <a:spcPts val="300"/>
              </a:spcAft>
              <a:defRPr sz="950">
                <a:solidFill>
                  <a:srgbClr val="6B4F3B"/>
                </a:solidFill>
                <a:latin typeface="Calibri"/>
              </a:defRPr>
            </a:pPr>
            <a:r>
              <a:t>   Social Security Numbers, credit cards, bank accounts, emails, personal phone records.</a:t>
            </a:r>
          </a:p>
          <a:p>
            <a:pPr>
              <a:spcBef>
                <a:spcPts val="400"/>
              </a:spcBef>
              <a:defRPr sz="1100" b="1">
                <a:solidFill>
                  <a:srgbClr val="2D2418"/>
                </a:solidFill>
                <a:latin typeface="Segoe UI"/>
              </a:defRPr>
            </a:pPr>
            <a:r>
              <a:t>• Adversarial Prompt Injections</a:t>
            </a:r>
          </a:p>
          <a:p>
            <a:pPr>
              <a:spcAft>
                <a:spcPts val="300"/>
              </a:spcAft>
              <a:defRPr sz="950">
                <a:solidFill>
                  <a:srgbClr val="6B4F3B"/>
                </a:solidFill>
                <a:latin typeface="Calibri"/>
              </a:defRPr>
            </a:pPr>
            <a:r>
              <a:t>   Bypass instructions, jailbreaks, system instruction overrides, DAN exploits, roleplay bypasses.</a:t>
            </a:r>
          </a:p>
          <a:p>
            <a:pPr>
              <a:spcBef>
                <a:spcPts val="400"/>
              </a:spcBef>
              <a:defRPr sz="1100" b="1">
                <a:solidFill>
                  <a:srgbClr val="2D2418"/>
                </a:solidFill>
                <a:latin typeface="Segoe UI"/>
              </a:defRPr>
            </a:pPr>
            <a:r>
              <a:t>• Proprietary Code &amp; Confidential Data</a:t>
            </a:r>
          </a:p>
          <a:p>
            <a:pPr>
              <a:spcAft>
                <a:spcPts val="300"/>
              </a:spcAft>
              <a:defRPr sz="950">
                <a:solidFill>
                  <a:srgbClr val="6B4F3B"/>
                </a:solidFill>
                <a:latin typeface="Calibri"/>
              </a:defRPr>
            </a:pPr>
            <a:r>
              <a:t>   Core algorithmic logic, internal architecture schemas, trade secrets, confidential tags.</a:t>
            </a:r>
          </a:p>
        </p:txBody>
      </p:sp>
      <p:sp>
        <p:nvSpPr>
          <p:cNvPr id="7" name="Rounded Rectangle 6"/>
          <p:cNvSpPr/>
          <p:nvPr/>
        </p:nvSpPr>
        <p:spPr>
          <a:xfrm>
            <a:off x="5669280" y="1691640"/>
            <a:ext cx="5790895" cy="4389120"/>
          </a:xfrm>
          <a:prstGeom prst="roundRect">
            <a:avLst/>
          </a:prstGeom>
          <a:solidFill>
            <a:srgbClr val="FFF3E0"/>
          </a:solidFill>
          <a:ln w="15240">
            <a:solidFill>
              <a:srgbClr val="D4B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874520"/>
            <a:ext cx="5425135" cy="4023360"/>
          </a:xfrm>
          <a:prstGeom prst="rect">
            <a:avLst/>
          </a:prstGeom>
          <a:noFill/>
        </p:spPr>
        <p:txBody>
          <a:bodyPr wrap="square" anchor="ctr" lIns="0" tIns="0" rIns="0" bIns="0">
            <a:spAutoFit/>
          </a:bodyPr>
          <a:lstStyle/>
          <a:p>
            <a:pPr algn="ctr">
              <a:spcAft>
                <a:spcPts val="600"/>
              </a:spcAft>
              <a:defRPr sz="1100" b="1">
                <a:solidFill>
                  <a:srgbClr val="D4760A"/>
                </a:solidFill>
                <a:latin typeface="Segoe UI"/>
              </a:defRPr>
            </a:pPr>
            <a:r>
              <a:t>[ APPLICATION SCREENSHOT REQUIRED ]</a:t>
            </a:r>
          </a:p>
          <a:p>
            <a:pPr algn="ctr">
              <a:spcAft>
                <a:spcPts val="800"/>
              </a:spcAft>
              <a:defRPr sz="1300" b="1">
                <a:solidFill>
                  <a:srgbClr val="2D2418"/>
                </a:solidFill>
                <a:latin typeface="Segoe UI"/>
              </a:defRPr>
            </a:pPr>
            <a:r>
              <a:t>Prompt Security Scanner Console</a:t>
            </a:r>
          </a:p>
          <a:p>
            <a:pPr algn="ctr">
              <a:defRPr sz="950">
                <a:solidFill>
                  <a:srgbClr val="6B4F3B"/>
                </a:solidFill>
                <a:latin typeface="Calibri"/>
              </a:defRPr>
            </a:pPr>
            <a:r>
              <a:t>Display UI view of Prompt Security Scanner detecting PII, credentials, and injection attempts with flagged risk scores.</a:t>
            </a:r>
          </a:p>
          <a:p>
            <a:pPr algn="ctr">
              <a:spcBef>
                <a:spcPts val="800"/>
              </a:spcBef>
              <a:defRPr sz="850" i="1">
                <a:solidFill>
                  <a:srgbClr val="9C7D64"/>
                </a:solidFill>
                <a:latin typeface="Calibri"/>
              </a:defRPr>
            </a:pPr>
            <a:r>
              <a:t>Drop / Paste verified application screenshot here (16:9 ratio recommended)</a:t>
            </a:r>
          </a:p>
        </p:txBody>
      </p:sp>
      <p:sp>
        <p:nvSpPr>
          <p:cNvPr id="9" name="Rectangle 8"/>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Demonstrate the scanner: It doesn't rely solely on basic keywords; it uses structural syntax and behavioral pattern heuristics.</a:t>
            </a:r>
          </a:p>
        </p:txBody>
      </p:sp>
      <p:sp>
        <p:nvSpPr>
          <p:cNvPr id="11" name="TextBox 10"/>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06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PRESERVING PRODUCTIVITY</a:t>
            </a:r>
          </a:p>
          <a:p>
            <a:pPr>
              <a:spcAft>
                <a:spcPts val="200"/>
              </a:spcAft>
              <a:defRPr sz="2200" b="1">
                <a:solidFill>
                  <a:srgbClr val="2D2418"/>
                </a:solidFill>
                <a:latin typeface="Segoe UI"/>
              </a:defRPr>
            </a:pPr>
            <a:r>
              <a:t>Auto Redaction: Data Sanitization Without Blocking</a:t>
            </a:r>
          </a:p>
          <a:p>
            <a:pPr>
              <a:defRPr sz="1100">
                <a:solidFill>
                  <a:srgbClr val="6B4F3B"/>
                </a:solidFill>
                <a:latin typeface="Calibri"/>
              </a:defRPr>
            </a:pPr>
            <a:r>
              <a:t>Masking sensitive tokens dynamically so engineering workflows proceed without disruption.</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ZERO WORKFLOW BLOCKING</a:t>
            </a:r>
          </a:p>
        </p:txBody>
      </p:sp>
      <p:sp>
        <p:nvSpPr>
          <p:cNvPr id="5" name="Rounded Rectangle 4"/>
          <p:cNvSpPr/>
          <p:nvPr/>
        </p:nvSpPr>
        <p:spPr>
          <a:xfrm>
            <a:off x="731520" y="1691640"/>
            <a:ext cx="466344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4206240" cy="3931920"/>
          </a:xfrm>
          <a:prstGeom prst="rect">
            <a:avLst/>
          </a:prstGeom>
          <a:noFill/>
        </p:spPr>
        <p:txBody>
          <a:bodyPr wrap="square" lIns="0" tIns="0" rIns="0" bIns="0">
            <a:spAutoFit/>
          </a:bodyPr>
          <a:lstStyle/>
          <a:p>
            <a:pPr>
              <a:spcAft>
                <a:spcPts val="600"/>
              </a:spcAft>
              <a:defRPr sz="1100" b="1">
                <a:solidFill>
                  <a:srgbClr val="D4760A"/>
                </a:solidFill>
                <a:latin typeface="Segoe UI"/>
              </a:defRPr>
            </a:pPr>
            <a:r>
              <a:t>INTELLIGENT VALUE PRESERVATION</a:t>
            </a:r>
          </a:p>
          <a:p>
            <a:pPr>
              <a:spcAft>
                <a:spcPts val="1200"/>
              </a:spcAft>
              <a:defRPr sz="1100">
                <a:solidFill>
                  <a:srgbClr val="2D2418"/>
                </a:solidFill>
                <a:latin typeface="Calibri"/>
              </a:defRPr>
            </a:pPr>
            <a:r>
              <a:t>A major flaw in traditional security tools is blocking queries outright. Guardian's auto-redaction sanitizes credentials and PII on-the-fly, allowing models to answer technical questions safely.</a:t>
            </a:r>
          </a:p>
        </p:txBody>
      </p:sp>
      <p:sp>
        <p:nvSpPr>
          <p:cNvPr id="7" name="Rounded Rectangle 6"/>
          <p:cNvSpPr/>
          <p:nvPr/>
        </p:nvSpPr>
        <p:spPr>
          <a:xfrm>
            <a:off x="960120" y="2926080"/>
            <a:ext cx="4206240" cy="1280160"/>
          </a:xfrm>
          <a:prstGeom prst="roundRect">
            <a:avLst/>
          </a:prstGeom>
          <a:solidFill>
            <a:srgbClr val="FDF4E7"/>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017520"/>
            <a:ext cx="3931920" cy="1097280"/>
          </a:xfrm>
          <a:prstGeom prst="rect">
            <a:avLst/>
          </a:prstGeom>
          <a:noFill/>
        </p:spPr>
        <p:txBody>
          <a:bodyPr wrap="square" lIns="0" tIns="0" rIns="0" bIns="0">
            <a:spAutoFit/>
          </a:bodyPr>
          <a:lstStyle/>
          <a:p>
            <a:pPr>
              <a:spcAft>
                <a:spcPts val="400"/>
              </a:spcAft>
              <a:defRPr sz="950" b="1">
                <a:solidFill>
                  <a:srgbClr val="C62828"/>
                </a:solidFill>
                <a:latin typeface="Segoe UI"/>
              </a:defRPr>
            </a:pPr>
            <a:r>
              <a:t>BEFORE (RAW INGRESS - HIGH RISK):</a:t>
            </a:r>
          </a:p>
          <a:p>
            <a:pPr>
              <a:defRPr sz="900">
                <a:solidFill>
                  <a:srgbClr val="2D2418"/>
                </a:solidFill>
                <a:latin typeface="Consolas"/>
              </a:defRPr>
            </a:pPr>
            <a:r>
              <a:t>SSN: 123-45-6789 | Card: 4111-2222-3333-4444</a:t>
            </a:r>
            <a:br/>
            <a:r>
              <a:t>API_KEY: sk-live-992817293847291028374829</a:t>
            </a:r>
            <a:br/>
            <a:r>
              <a:t>password=SecretPassword123!</a:t>
            </a:r>
          </a:p>
        </p:txBody>
      </p:sp>
      <p:sp>
        <p:nvSpPr>
          <p:cNvPr id="9" name="Rounded Rectangle 8"/>
          <p:cNvSpPr/>
          <p:nvPr/>
        </p:nvSpPr>
        <p:spPr>
          <a:xfrm>
            <a:off x="960120" y="4389120"/>
            <a:ext cx="4206240" cy="1280160"/>
          </a:xfrm>
          <a:prstGeom prst="roundRect">
            <a:avLst/>
          </a:prstGeom>
          <a:solidFill>
            <a:srgbClr val="FFF3E0"/>
          </a:solidFill>
          <a:ln w="1524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480560"/>
            <a:ext cx="3931920" cy="1097280"/>
          </a:xfrm>
          <a:prstGeom prst="rect">
            <a:avLst/>
          </a:prstGeom>
          <a:noFill/>
        </p:spPr>
        <p:txBody>
          <a:bodyPr wrap="square" lIns="0" tIns="0" rIns="0" bIns="0">
            <a:spAutoFit/>
          </a:bodyPr>
          <a:lstStyle/>
          <a:p>
            <a:pPr>
              <a:spcAft>
                <a:spcPts val="400"/>
              </a:spcAft>
              <a:defRPr sz="950" b="1">
                <a:solidFill>
                  <a:srgbClr val="2E7D32"/>
                </a:solidFill>
                <a:latin typeface="Segoe UI"/>
              </a:defRPr>
            </a:pPr>
            <a:r>
              <a:t>AFTER (SANITIZED - MODEL READY):</a:t>
            </a:r>
          </a:p>
          <a:p>
            <a:pPr>
              <a:defRPr sz="900">
                <a:solidFill>
                  <a:srgbClr val="2D2418"/>
                </a:solidFill>
                <a:latin typeface="Consolas"/>
              </a:defRPr>
            </a:pPr>
            <a:r>
              <a:t>SSN: [REDACTED_SSN] | Card: [REDACTED_CARD]</a:t>
            </a:r>
            <a:br/>
            <a:r>
              <a:t>API_KEY: [REDACTED_OPENAI_KEY]</a:t>
            </a:r>
            <a:br/>
            <a:r>
              <a:t>password=[REDACTED_SECRET]</a:t>
            </a:r>
          </a:p>
        </p:txBody>
      </p:sp>
      <p:sp>
        <p:nvSpPr>
          <p:cNvPr id="11" name="Rounded Rectangle 10"/>
          <p:cNvSpPr/>
          <p:nvPr/>
        </p:nvSpPr>
        <p:spPr>
          <a:xfrm>
            <a:off x="5669280" y="1691640"/>
            <a:ext cx="5790895" cy="4389120"/>
          </a:xfrm>
          <a:prstGeom prst="roundRect">
            <a:avLst/>
          </a:prstGeom>
          <a:solidFill>
            <a:srgbClr val="FFF3E0"/>
          </a:solidFill>
          <a:ln w="15240">
            <a:solidFill>
              <a:srgbClr val="D4B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0" y="1874520"/>
            <a:ext cx="5425135" cy="4023360"/>
          </a:xfrm>
          <a:prstGeom prst="rect">
            <a:avLst/>
          </a:prstGeom>
          <a:noFill/>
        </p:spPr>
        <p:txBody>
          <a:bodyPr wrap="square" anchor="ctr" lIns="0" tIns="0" rIns="0" bIns="0">
            <a:spAutoFit/>
          </a:bodyPr>
          <a:lstStyle/>
          <a:p>
            <a:pPr algn="ctr">
              <a:spcAft>
                <a:spcPts val="600"/>
              </a:spcAft>
              <a:defRPr sz="1100" b="1">
                <a:solidFill>
                  <a:srgbClr val="D4760A"/>
                </a:solidFill>
                <a:latin typeface="Segoe UI"/>
              </a:defRPr>
            </a:pPr>
            <a:r>
              <a:t>[ APPLICATION SCREENSHOT REQUIRED ]</a:t>
            </a:r>
          </a:p>
          <a:p>
            <a:pPr algn="ctr">
              <a:spcAft>
                <a:spcPts val="800"/>
              </a:spcAft>
              <a:defRPr sz="1300" b="1">
                <a:solidFill>
                  <a:srgbClr val="2D2418"/>
                </a:solidFill>
                <a:latin typeface="Segoe UI"/>
              </a:defRPr>
            </a:pPr>
            <a:r>
              <a:t>Redaction Engine &amp; Masked Prompt Inspector</a:t>
            </a:r>
          </a:p>
          <a:p>
            <a:pPr algn="ctr">
              <a:defRPr sz="950">
                <a:solidFill>
                  <a:srgbClr val="6B4F3B"/>
                </a:solidFill>
                <a:latin typeface="Calibri"/>
              </a:defRPr>
            </a:pPr>
            <a:r>
              <a:t>Display playground redacted view tab illustrating side-by-side original prompt vs masked tokens ([REDACTED]).</a:t>
            </a:r>
          </a:p>
          <a:p>
            <a:pPr algn="ctr">
              <a:spcBef>
                <a:spcPts val="800"/>
              </a:spcBef>
              <a:defRPr sz="850" i="1">
                <a:solidFill>
                  <a:srgbClr val="9C7D64"/>
                </a:solidFill>
                <a:latin typeface="Calibri"/>
              </a:defRPr>
            </a:pPr>
            <a:r>
              <a:t>Drop / Paste verified application screenshot here (16:9 ratio recommended)</a:t>
            </a:r>
          </a:p>
        </p:txBody>
      </p:sp>
      <p:sp>
        <p:nvSpPr>
          <p:cNvPr id="13" name="Rectangle 12"/>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Crucial Jury Point: This solves the developer friction problem. Developers get their answers, SecOps gets 100% compliance.</a:t>
            </a:r>
          </a:p>
        </p:txBody>
      </p:sp>
      <p:sp>
        <p:nvSpPr>
          <p:cNvPr id="15" name="TextBox 14"/>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07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QUANTITATIVE THREAT QUANTIFICATION</a:t>
            </a:r>
          </a:p>
          <a:p>
            <a:pPr>
              <a:spcAft>
                <a:spcPts val="200"/>
              </a:spcAft>
              <a:defRPr sz="2200" b="1">
                <a:solidFill>
                  <a:srgbClr val="2D2418"/>
                </a:solidFill>
                <a:latin typeface="Segoe UI"/>
              </a:defRPr>
            </a:pPr>
            <a:r>
              <a:t>Risk Scoring Engine: Multi-Factor Heuristic Matrix</a:t>
            </a:r>
          </a:p>
          <a:p>
            <a:pPr>
              <a:defRPr sz="1100">
                <a:solidFill>
                  <a:srgbClr val="6B4F3B"/>
                </a:solidFill>
                <a:latin typeface="Calibri"/>
              </a:defRPr>
            </a:pPr>
            <a:r>
              <a:t>Evaluating data sensitivity, user clearance, department policy, and model risk in real time.</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DYNAMIC 0-100 INDEX</a:t>
            </a:r>
          </a:p>
        </p:txBody>
      </p:sp>
      <p:sp>
        <p:nvSpPr>
          <p:cNvPr id="5" name="Rounded Rectangle 4"/>
          <p:cNvSpPr/>
          <p:nvPr/>
        </p:nvSpPr>
        <p:spPr>
          <a:xfrm>
            <a:off x="731520" y="1691640"/>
            <a:ext cx="466344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4206240" cy="3931920"/>
          </a:xfrm>
          <a:prstGeom prst="rect">
            <a:avLst/>
          </a:prstGeom>
          <a:noFill/>
        </p:spPr>
        <p:txBody>
          <a:bodyPr wrap="square" lIns="0" tIns="0" rIns="0" bIns="0">
            <a:spAutoFit/>
          </a:bodyPr>
          <a:lstStyle/>
          <a:p>
            <a:pPr>
              <a:spcAft>
                <a:spcPts val="600"/>
              </a:spcAft>
              <a:defRPr sz="1100" b="1">
                <a:solidFill>
                  <a:srgbClr val="D4760A"/>
                </a:solidFill>
                <a:latin typeface="Segoe UI"/>
              </a:defRPr>
            </a:pPr>
            <a:r>
              <a:t>WEIGHTED 5-FACTOR ALGORITHM</a:t>
            </a:r>
          </a:p>
          <a:p>
            <a:pPr>
              <a:spcBef>
                <a:spcPts val="300"/>
              </a:spcBef>
              <a:defRPr sz="1050" b="1">
                <a:solidFill>
                  <a:srgbClr val="2D2418"/>
                </a:solidFill>
                <a:latin typeface="Segoe UI"/>
              </a:defRPr>
            </a:pPr>
            <a:r>
              <a:t>• Data Sensitivity (Weight: 35%)</a:t>
            </a:r>
          </a:p>
          <a:p>
            <a:pPr>
              <a:defRPr sz="950">
                <a:solidFill>
                  <a:srgbClr val="6B4F3B"/>
                </a:solidFill>
                <a:latin typeface="Calibri"/>
              </a:defRPr>
            </a:pPr>
            <a:r>
              <a:t>   Severity of detected entities (Confidential, PII, Secrets, Source Code).</a:t>
            </a:r>
          </a:p>
          <a:p>
            <a:pPr>
              <a:spcBef>
                <a:spcPts val="300"/>
              </a:spcBef>
              <a:defRPr sz="1050" b="1">
                <a:solidFill>
                  <a:srgbClr val="2D2418"/>
                </a:solidFill>
                <a:latin typeface="Segoe UI"/>
              </a:defRPr>
            </a:pPr>
            <a:r>
              <a:t>• User Role &amp; Clearance (Weight: 20%)</a:t>
            </a:r>
          </a:p>
          <a:p>
            <a:pPr>
              <a:defRPr sz="950">
                <a:solidFill>
                  <a:srgbClr val="6B4F3B"/>
                </a:solidFill>
                <a:latin typeface="Calibri"/>
              </a:defRPr>
            </a:pPr>
            <a:r>
              <a:t>   Principal privilege level (Intern vs Engineer vs Principal Architect).</a:t>
            </a:r>
          </a:p>
          <a:p>
            <a:pPr>
              <a:spcBef>
                <a:spcPts val="300"/>
              </a:spcBef>
              <a:defRPr sz="1050" b="1">
                <a:solidFill>
                  <a:srgbClr val="2D2418"/>
                </a:solidFill>
                <a:latin typeface="Segoe UI"/>
              </a:defRPr>
            </a:pPr>
            <a:r>
              <a:t>• Department Governance (Weight: 15%)</a:t>
            </a:r>
          </a:p>
          <a:p>
            <a:pPr>
              <a:defRPr sz="950">
                <a:solidFill>
                  <a:srgbClr val="6B4F3B"/>
                </a:solidFill>
                <a:latin typeface="Calibri"/>
              </a:defRPr>
            </a:pPr>
            <a:r>
              <a:t>   Department budget, policy strictness tier, and compliance posture.</a:t>
            </a:r>
          </a:p>
          <a:p>
            <a:pPr>
              <a:spcBef>
                <a:spcPts val="300"/>
              </a:spcBef>
              <a:defRPr sz="1050" b="1">
                <a:solidFill>
                  <a:srgbClr val="2D2418"/>
                </a:solidFill>
                <a:latin typeface="Segoe UI"/>
              </a:defRPr>
            </a:pPr>
            <a:r>
              <a:t>• Prompt Intent Category (Weight: 20%)</a:t>
            </a:r>
          </a:p>
          <a:p>
            <a:pPr>
              <a:defRPr sz="950">
                <a:solidFill>
                  <a:srgbClr val="6B4F3B"/>
                </a:solidFill>
                <a:latin typeface="Calibri"/>
              </a:defRPr>
            </a:pPr>
            <a:r>
              <a:t>   Heuristic classification (Code Debugging, General Query, HR, Finance).</a:t>
            </a:r>
          </a:p>
          <a:p>
            <a:pPr>
              <a:spcBef>
                <a:spcPts val="300"/>
              </a:spcBef>
              <a:defRPr sz="1050" b="1">
                <a:solidFill>
                  <a:srgbClr val="2D2418"/>
                </a:solidFill>
                <a:latin typeface="Segoe UI"/>
              </a:defRPr>
            </a:pPr>
            <a:r>
              <a:t>• Target Model Profile (Weight: 10%)</a:t>
            </a:r>
          </a:p>
          <a:p>
            <a:pPr>
              <a:defRPr sz="950">
                <a:solidFill>
                  <a:srgbClr val="6B4F3B"/>
                </a:solidFill>
                <a:latin typeface="Calibri"/>
              </a:defRPr>
            </a:pPr>
            <a:r>
              <a:t>   External commercial cloud LLM vs internal on-premise hosted model.</a:t>
            </a:r>
          </a:p>
          <a:p>
            <a:pPr>
              <a:spcBef>
                <a:spcPts val="800"/>
              </a:spcBef>
              <a:defRPr sz="1000" b="1">
                <a:solidFill>
                  <a:srgbClr val="D4760A"/>
                </a:solidFill>
                <a:latin typeface="Segoe UI"/>
              </a:defRPr>
            </a:pPr>
            <a:r>
              <a:t>4 OPERATIONAL RISK TIERS:</a:t>
            </a:r>
          </a:p>
          <a:p>
            <a:pPr>
              <a:defRPr sz="950" b="1">
                <a:solidFill>
                  <a:srgbClr val="2D2418"/>
                </a:solidFill>
                <a:latin typeface="Consolas"/>
              </a:defRPr>
            </a:pPr>
            <a:r>
              <a:t>LOW (0-29)  |  MEDIUM (30-59)  |  HIGH (60-79)  |  CRITICAL (80-100)</a:t>
            </a:r>
          </a:p>
        </p:txBody>
      </p:sp>
      <p:sp>
        <p:nvSpPr>
          <p:cNvPr id="7" name="Rounded Rectangle 6"/>
          <p:cNvSpPr/>
          <p:nvPr/>
        </p:nvSpPr>
        <p:spPr>
          <a:xfrm>
            <a:off x="5669280" y="1691640"/>
            <a:ext cx="5790895" cy="4389120"/>
          </a:xfrm>
          <a:prstGeom prst="roundRect">
            <a:avLst/>
          </a:prstGeom>
          <a:solidFill>
            <a:srgbClr val="FFF3E0"/>
          </a:solidFill>
          <a:ln w="15240">
            <a:solidFill>
              <a:srgbClr val="D4B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874520"/>
            <a:ext cx="5425135" cy="4023360"/>
          </a:xfrm>
          <a:prstGeom prst="rect">
            <a:avLst/>
          </a:prstGeom>
          <a:noFill/>
        </p:spPr>
        <p:txBody>
          <a:bodyPr wrap="square" anchor="ctr" lIns="0" tIns="0" rIns="0" bIns="0">
            <a:spAutoFit/>
          </a:bodyPr>
          <a:lstStyle/>
          <a:p>
            <a:pPr algn="ctr">
              <a:spcAft>
                <a:spcPts val="600"/>
              </a:spcAft>
              <a:defRPr sz="1100" b="1">
                <a:solidFill>
                  <a:srgbClr val="D4760A"/>
                </a:solidFill>
                <a:latin typeface="Segoe UI"/>
              </a:defRPr>
            </a:pPr>
            <a:r>
              <a:t>[ APPLICATION SCREENSHOT REQUIRED ]</a:t>
            </a:r>
          </a:p>
          <a:p>
            <a:pPr algn="ctr">
              <a:spcAft>
                <a:spcPts val="800"/>
              </a:spcAft>
              <a:defRPr sz="1300" b="1">
                <a:solidFill>
                  <a:srgbClr val="2D2418"/>
                </a:solidFill>
                <a:latin typeface="Segoe UI"/>
              </a:defRPr>
            </a:pPr>
            <a:r>
              <a:t>Risk Engine Breakdown &amp; Factor Scoring Matrix</a:t>
            </a:r>
          </a:p>
          <a:p>
            <a:pPr algn="ctr">
              <a:defRPr sz="950">
                <a:solidFill>
                  <a:srgbClr val="6B4F3B"/>
                </a:solidFill>
                <a:latin typeface="Calibri"/>
              </a:defRPr>
            </a:pPr>
            <a:r>
              <a:t>Display Risk Engine score breakdown UI showing factor contributions and risk score gauge (0-100).</a:t>
            </a:r>
          </a:p>
          <a:p>
            <a:pPr algn="ctr">
              <a:spcBef>
                <a:spcPts val="800"/>
              </a:spcBef>
              <a:defRPr sz="850" i="1">
                <a:solidFill>
                  <a:srgbClr val="9C7D64"/>
                </a:solidFill>
                <a:latin typeface="Calibri"/>
              </a:defRPr>
            </a:pPr>
            <a:r>
              <a:t>Drop / Paste verified application screenshot here (16:9 ratio recommended)</a:t>
            </a:r>
          </a:p>
        </p:txBody>
      </p:sp>
      <p:sp>
        <p:nvSpPr>
          <p:cNvPr id="9" name="Rectangle 8"/>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Explain the weighting: Context matters. A junior intern querying confidential financials gets higher risk than a lead architect.</a:t>
            </a:r>
          </a:p>
        </p:txBody>
      </p:sp>
      <p:sp>
        <p:nvSpPr>
          <p:cNvPr id="11" name="TextBox 10"/>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08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AUTOMATED ENFORCEMENT</a:t>
            </a:r>
          </a:p>
          <a:p>
            <a:pPr>
              <a:spcAft>
                <a:spcPts val="200"/>
              </a:spcAft>
              <a:defRPr sz="2200" b="1">
                <a:solidFill>
                  <a:srgbClr val="2D2418"/>
                </a:solidFill>
                <a:latin typeface="Segoe UI"/>
              </a:defRPr>
            </a:pPr>
            <a:r>
              <a:t>AI Request Decision Engine: Policy-Driven Actions</a:t>
            </a:r>
          </a:p>
          <a:p>
            <a:pPr>
              <a:defRPr sz="1100">
                <a:solidFill>
                  <a:srgbClr val="6B4F3B"/>
                </a:solidFill>
                <a:latin typeface="Calibri"/>
              </a:defRPr>
            </a:pPr>
            <a:r>
              <a:t>Transforming continuous risk scores into deterministic, auditable governance actions.</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ZERO AMBIGUITY</a:t>
            </a:r>
          </a:p>
        </p:txBody>
      </p:sp>
      <p:sp>
        <p:nvSpPr>
          <p:cNvPr id="5" name="Rounded Rectangle 4"/>
          <p:cNvSpPr/>
          <p:nvPr/>
        </p:nvSpPr>
        <p:spPr>
          <a:xfrm>
            <a:off x="731520" y="1691640"/>
            <a:ext cx="466344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4206240" cy="3931920"/>
          </a:xfrm>
          <a:prstGeom prst="rect">
            <a:avLst/>
          </a:prstGeom>
          <a:noFill/>
        </p:spPr>
        <p:txBody>
          <a:bodyPr wrap="square" lIns="0" tIns="0" rIns="0" bIns="0">
            <a:spAutoFit/>
          </a:bodyPr>
          <a:lstStyle/>
          <a:p>
            <a:pPr>
              <a:spcAft>
                <a:spcPts val="800"/>
              </a:spcAft>
              <a:defRPr sz="1100" b="1">
                <a:solidFill>
                  <a:srgbClr val="D4760A"/>
                </a:solidFill>
                <a:latin typeface="Segoe UI"/>
              </a:defRPr>
            </a:pPr>
            <a:r>
              <a:t>THREE GOVERNED OUTCOMES</a:t>
            </a:r>
          </a:p>
          <a:p>
            <a:pPr>
              <a:spcBef>
                <a:spcPts val="800"/>
              </a:spcBef>
              <a:defRPr sz="1150" b="1">
                <a:solidFill>
                  <a:srgbClr val="2E7D32"/>
                </a:solidFill>
                <a:latin typeface="Segoe UI"/>
              </a:defRPr>
            </a:pPr>
            <a:r>
              <a:t>■  ALLOW (Score &lt; 60)</a:t>
            </a:r>
          </a:p>
          <a:p>
            <a:pPr>
              <a:spcBef>
                <a:spcPts val="200"/>
              </a:spcBef>
              <a:defRPr sz="1000">
                <a:solidFill>
                  <a:srgbClr val="2D2418"/>
                </a:solidFill>
                <a:latin typeface="Calibri"/>
              </a:defRPr>
            </a:pPr>
            <a:r>
              <a:t>Compliant or safely redacted request. Gateway dispatches query to model immediately with sub-second execution latency.</a:t>
            </a:r>
          </a:p>
          <a:p>
            <a:pPr>
              <a:spcBef>
                <a:spcPts val="800"/>
              </a:spcBef>
              <a:defRPr sz="1150" b="1">
                <a:solidFill>
                  <a:srgbClr val="A16207"/>
                </a:solidFill>
                <a:latin typeface="Segoe UI"/>
              </a:defRPr>
            </a:pPr>
            <a:r>
              <a:t>■  REVIEW (Score 60 - 79)</a:t>
            </a:r>
          </a:p>
          <a:p>
            <a:pPr>
              <a:spcBef>
                <a:spcPts val="200"/>
              </a:spcBef>
              <a:defRPr sz="1000">
                <a:solidFill>
                  <a:srgbClr val="2D2418"/>
                </a:solidFill>
                <a:latin typeface="Calibri"/>
              </a:defRPr>
            </a:pPr>
            <a:r>
              <a:t>High-risk or policy-sensitive query intercepted for human-in-the-loop review. Ticket created in SecOps approval queue with notification.</a:t>
            </a:r>
          </a:p>
          <a:p>
            <a:pPr>
              <a:spcBef>
                <a:spcPts val="800"/>
              </a:spcBef>
              <a:defRPr sz="1150" b="1">
                <a:solidFill>
                  <a:srgbClr val="C62828"/>
                </a:solidFill>
                <a:latin typeface="Segoe UI"/>
              </a:defRPr>
            </a:pPr>
            <a:r>
              <a:t>■  BLOCK (Score &gt;= 80)</a:t>
            </a:r>
          </a:p>
          <a:p>
            <a:pPr>
              <a:spcBef>
                <a:spcPts val="200"/>
              </a:spcBef>
              <a:defRPr sz="1000">
                <a:solidFill>
                  <a:srgbClr val="2D2418"/>
                </a:solidFill>
                <a:latin typeface="Calibri"/>
              </a:defRPr>
            </a:pPr>
            <a:r>
              <a:t>Critical vulnerability, confirmed jailbreak attempt, or unredactable key leak. Gateway immediately terminates request with audit justification.</a:t>
            </a:r>
          </a:p>
        </p:txBody>
      </p:sp>
      <p:sp>
        <p:nvSpPr>
          <p:cNvPr id="7" name="Rounded Rectangle 6"/>
          <p:cNvSpPr/>
          <p:nvPr/>
        </p:nvSpPr>
        <p:spPr>
          <a:xfrm>
            <a:off x="5669280" y="1691640"/>
            <a:ext cx="5790895" cy="4389120"/>
          </a:xfrm>
          <a:prstGeom prst="roundRect">
            <a:avLst/>
          </a:prstGeom>
          <a:solidFill>
            <a:srgbClr val="FFF3E0"/>
          </a:solidFill>
          <a:ln w="15240">
            <a:solidFill>
              <a:srgbClr val="D4B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874520"/>
            <a:ext cx="5425135" cy="4023360"/>
          </a:xfrm>
          <a:prstGeom prst="rect">
            <a:avLst/>
          </a:prstGeom>
          <a:noFill/>
        </p:spPr>
        <p:txBody>
          <a:bodyPr wrap="square" anchor="ctr" lIns="0" tIns="0" rIns="0" bIns="0">
            <a:spAutoFit/>
          </a:bodyPr>
          <a:lstStyle/>
          <a:p>
            <a:pPr algn="ctr">
              <a:spcAft>
                <a:spcPts val="600"/>
              </a:spcAft>
              <a:defRPr sz="1100" b="1">
                <a:solidFill>
                  <a:srgbClr val="D4760A"/>
                </a:solidFill>
                <a:latin typeface="Segoe UI"/>
              </a:defRPr>
            </a:pPr>
            <a:r>
              <a:t>[ APPLICATION SCREENSHOT REQUIRED ]</a:t>
            </a:r>
          </a:p>
          <a:p>
            <a:pPr algn="ctr">
              <a:spcAft>
                <a:spcPts val="800"/>
              </a:spcAft>
              <a:defRPr sz="1300" b="1">
                <a:solidFill>
                  <a:srgbClr val="2D2418"/>
                </a:solidFill>
                <a:latin typeface="Segoe UI"/>
              </a:defRPr>
            </a:pPr>
            <a:r>
              <a:t>Decision Engine Pipeline Trace &amp; Action Modal</a:t>
            </a:r>
          </a:p>
          <a:p>
            <a:pPr algn="ctr">
              <a:defRPr sz="950">
                <a:solidFill>
                  <a:srgbClr val="6B4F3B"/>
                </a:solidFill>
                <a:latin typeface="Calibri"/>
              </a:defRPr>
            </a:pPr>
            <a:r>
              <a:t>Display UI pipeline trace viewer showcasing decision verdict (ALLOW, REVIEW, or BLOCK) with violation context.</a:t>
            </a:r>
          </a:p>
          <a:p>
            <a:pPr algn="ctr">
              <a:spcBef>
                <a:spcPts val="800"/>
              </a:spcBef>
              <a:defRPr sz="850" i="1">
                <a:solidFill>
                  <a:srgbClr val="9C7D64"/>
                </a:solidFill>
                <a:latin typeface="Calibri"/>
              </a:defRPr>
            </a:pPr>
            <a:r>
              <a:t>Drop / Paste verified application screenshot here (16:9 ratio recommended)</a:t>
            </a:r>
          </a:p>
        </p:txBody>
      </p:sp>
      <p:sp>
        <p:nvSpPr>
          <p:cNvPr id="9" name="Rectangle 8"/>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Point out: The thresholds (60, 80) are hot-configurable per department policy without restarting services.</a:t>
            </a:r>
          </a:p>
        </p:txBody>
      </p:sp>
      <p:sp>
        <p:nvSpPr>
          <p:cNvPr id="11" name="TextBox 10"/>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09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MODEL ORCHESTRATION &amp; FINOPS</a:t>
            </a:r>
          </a:p>
          <a:p>
            <a:pPr>
              <a:spcAft>
                <a:spcPts val="200"/>
              </a:spcAft>
              <a:defRPr sz="2200" b="1">
                <a:solidFill>
                  <a:srgbClr val="2D2418"/>
                </a:solidFill>
                <a:latin typeface="Segoe UI"/>
              </a:defRPr>
            </a:pPr>
            <a:r>
              <a:t>LLM Governance: Neutrality, Cost Metering &amp; Mocking</a:t>
            </a:r>
          </a:p>
          <a:p>
            <a:pPr>
              <a:defRPr sz="1100">
                <a:solidFill>
                  <a:srgbClr val="6B4F3B"/>
                </a:solidFill>
                <a:latin typeface="Calibri"/>
              </a:defRPr>
            </a:pPr>
            <a:r>
              <a:t>Unified multi-vendor abstraction preventing vendor lock-in and eliminating runaway AI costs.</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ZERO VENDOR LOCK-IN</a:t>
            </a:r>
          </a:p>
        </p:txBody>
      </p:sp>
      <p:sp>
        <p:nvSpPr>
          <p:cNvPr id="5" name="Rounded Rectangle 4"/>
          <p:cNvSpPr/>
          <p:nvPr/>
        </p:nvSpPr>
        <p:spPr>
          <a:xfrm>
            <a:off x="731520" y="1691640"/>
            <a:ext cx="466344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4206240" cy="3931920"/>
          </a:xfrm>
          <a:prstGeom prst="rect">
            <a:avLst/>
          </a:prstGeom>
          <a:noFill/>
        </p:spPr>
        <p:txBody>
          <a:bodyPr wrap="square" lIns="0" tIns="0" rIns="0" bIns="0">
            <a:spAutoFit/>
          </a:bodyPr>
          <a:lstStyle/>
          <a:p>
            <a:pPr>
              <a:spcAft>
                <a:spcPts val="800"/>
              </a:spcAft>
              <a:defRPr sz="1100" b="1">
                <a:solidFill>
                  <a:srgbClr val="D4760A"/>
                </a:solidFill>
                <a:latin typeface="Segoe UI"/>
              </a:defRPr>
            </a:pPr>
            <a:r>
              <a:t>UNIFIED MODEL MANAGEMENT</a:t>
            </a:r>
          </a:p>
          <a:p>
            <a:pPr>
              <a:spcBef>
                <a:spcPts val="300"/>
              </a:spcBef>
              <a:defRPr sz="1050" b="1">
                <a:solidFill>
                  <a:srgbClr val="2D2418"/>
                </a:solidFill>
                <a:latin typeface="Segoe UI"/>
              </a:defRPr>
            </a:pPr>
            <a:r>
              <a:t>• Vendor-Agnostic Model Routing</a:t>
            </a:r>
          </a:p>
          <a:p>
            <a:pPr>
              <a:defRPr sz="950">
                <a:solidFill>
                  <a:srgbClr val="6B4F3B"/>
                </a:solidFill>
                <a:latin typeface="Calibri"/>
              </a:defRPr>
            </a:pPr>
            <a:r>
              <a:t>   Seamlessly routes across OpenAI (GPT-4o), Anthropic (Claude 3.5), Google (Gemini 1.5), and local enterprise LLMs.</a:t>
            </a:r>
          </a:p>
          <a:p>
            <a:pPr>
              <a:spcBef>
                <a:spcPts val="300"/>
              </a:spcBef>
              <a:defRPr sz="1050" b="1">
                <a:solidFill>
                  <a:srgbClr val="2D2418"/>
                </a:solidFill>
                <a:latin typeface="Segoe UI"/>
              </a:defRPr>
            </a:pPr>
            <a:r>
              <a:t>• OpenAI API Standard Protocol</a:t>
            </a:r>
          </a:p>
          <a:p>
            <a:pPr>
              <a:defRPr sz="950">
                <a:solidFill>
                  <a:srgbClr val="6B4F3B"/>
                </a:solidFill>
                <a:latin typeface="Calibri"/>
              </a:defRPr>
            </a:pPr>
            <a:r>
              <a:t>   Zero-code change integration: Drop-in compatible with existing enterprise applications and LangChain/LlamaIndex frameworks.</a:t>
            </a:r>
          </a:p>
          <a:p>
            <a:pPr>
              <a:spcBef>
                <a:spcPts val="300"/>
              </a:spcBef>
              <a:defRPr sz="1050" b="1">
                <a:solidFill>
                  <a:srgbClr val="2D2418"/>
                </a:solidFill>
                <a:latin typeface="Segoe UI"/>
              </a:defRPr>
            </a:pPr>
            <a:r>
              <a:t>• Deterministic Mock Provider</a:t>
            </a:r>
          </a:p>
          <a:p>
            <a:pPr>
              <a:defRPr sz="950">
                <a:solidFill>
                  <a:srgbClr val="6B4F3B"/>
                </a:solidFill>
                <a:latin typeface="Calibri"/>
              </a:defRPr>
            </a:pPr>
            <a:r>
              <a:t>   Enables local offline development and automated CI/CD security testing with zero external API costs and 0ms latency.</a:t>
            </a:r>
          </a:p>
          <a:p>
            <a:pPr>
              <a:spcBef>
                <a:spcPts val="300"/>
              </a:spcBef>
              <a:defRPr sz="1050" b="1">
                <a:solidFill>
                  <a:srgbClr val="2D2418"/>
                </a:solidFill>
                <a:latin typeface="Segoe UI"/>
              </a:defRPr>
            </a:pPr>
            <a:r>
              <a:t>• Granular Token Accounting</a:t>
            </a:r>
          </a:p>
          <a:p>
            <a:pPr>
              <a:defRPr sz="950">
                <a:solidFill>
                  <a:srgbClr val="6B4F3B"/>
                </a:solidFill>
                <a:latin typeface="Calibri"/>
              </a:defRPr>
            </a:pPr>
            <a:r>
              <a:t>   Captures exact input prompt tokens, output completion tokens, and peak context utilization per transaction.</a:t>
            </a:r>
          </a:p>
          <a:p>
            <a:pPr>
              <a:spcBef>
                <a:spcPts val="300"/>
              </a:spcBef>
              <a:defRPr sz="1050" b="1">
                <a:solidFill>
                  <a:srgbClr val="2D2418"/>
                </a:solidFill>
                <a:latin typeface="Segoe UI"/>
              </a:defRPr>
            </a:pPr>
            <a:r>
              <a:t>• Real-Time Financial Cost Metering</a:t>
            </a:r>
          </a:p>
          <a:p>
            <a:pPr>
              <a:defRPr sz="950">
                <a:solidFill>
                  <a:srgbClr val="6B4F3B"/>
                </a:solidFill>
                <a:latin typeface="Calibri"/>
              </a:defRPr>
            </a:pPr>
            <a:r>
              <a:t>   Computes dollar cost per prompt based on live vendor pricing models ($5.00/1M tokens prompt, $15.00/1M completion).</a:t>
            </a:r>
          </a:p>
        </p:txBody>
      </p:sp>
      <p:sp>
        <p:nvSpPr>
          <p:cNvPr id="7" name="Rounded Rectangle 6"/>
          <p:cNvSpPr/>
          <p:nvPr/>
        </p:nvSpPr>
        <p:spPr>
          <a:xfrm>
            <a:off x="5669280" y="1691640"/>
            <a:ext cx="5790895" cy="4389120"/>
          </a:xfrm>
          <a:prstGeom prst="roundRect">
            <a:avLst/>
          </a:prstGeom>
          <a:solidFill>
            <a:srgbClr val="FFF3E0"/>
          </a:solidFill>
          <a:ln w="15240">
            <a:solidFill>
              <a:srgbClr val="D4B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874520"/>
            <a:ext cx="5425135" cy="4023360"/>
          </a:xfrm>
          <a:prstGeom prst="rect">
            <a:avLst/>
          </a:prstGeom>
          <a:noFill/>
        </p:spPr>
        <p:txBody>
          <a:bodyPr wrap="square" anchor="ctr" lIns="0" tIns="0" rIns="0" bIns="0">
            <a:spAutoFit/>
          </a:bodyPr>
          <a:lstStyle/>
          <a:p>
            <a:pPr algn="ctr">
              <a:spcAft>
                <a:spcPts val="600"/>
              </a:spcAft>
              <a:defRPr sz="1100" b="1">
                <a:solidFill>
                  <a:srgbClr val="D4760A"/>
                </a:solidFill>
                <a:latin typeface="Segoe UI"/>
              </a:defRPr>
            </a:pPr>
            <a:r>
              <a:t>[ APPLICATION SCREENSHOT REQUIRED ]</a:t>
            </a:r>
          </a:p>
          <a:p>
            <a:pPr algn="ctr">
              <a:spcAft>
                <a:spcPts val="800"/>
              </a:spcAft>
              <a:defRPr sz="1300" b="1">
                <a:solidFill>
                  <a:srgbClr val="2D2418"/>
                </a:solidFill>
                <a:latin typeface="Segoe UI"/>
              </a:defRPr>
            </a:pPr>
            <a:r>
              <a:t>Model Catalog, Token Usage &amp; Cost Analytics</a:t>
            </a:r>
          </a:p>
          <a:p>
            <a:pPr algn="ctr">
              <a:defRPr sz="950">
                <a:solidFill>
                  <a:srgbClr val="6B4F3B"/>
                </a:solidFill>
                <a:latin typeface="Calibri"/>
              </a:defRPr>
            </a:pPr>
            <a:r>
              <a:t>Display UI model governance view showing supported vendor models, pricing tables, and token consumption charts.</a:t>
            </a:r>
          </a:p>
          <a:p>
            <a:pPr algn="ctr">
              <a:spcBef>
                <a:spcPts val="800"/>
              </a:spcBef>
              <a:defRPr sz="850" i="1">
                <a:solidFill>
                  <a:srgbClr val="9C7D64"/>
                </a:solidFill>
                <a:latin typeface="Calibri"/>
              </a:defRPr>
            </a:pPr>
            <a:r>
              <a:t>Drop / Paste verified application screenshot here (16:9 ratio recommended)</a:t>
            </a:r>
          </a:p>
        </p:txBody>
      </p:sp>
      <p:sp>
        <p:nvSpPr>
          <p:cNvPr id="9" name="Rectangle 8"/>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Highlight the Mock Provider: Judges love seeing that developers can test full security pipelines locally without incurring API bills.</a:t>
            </a:r>
          </a:p>
        </p:txBody>
      </p:sp>
      <p:sp>
        <p:nvSpPr>
          <p:cNvPr id="11" name="TextBox 10"/>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POST-GENERATION DEFENSE</a:t>
            </a:r>
          </a:p>
          <a:p>
            <a:pPr>
              <a:spcAft>
                <a:spcPts val="200"/>
              </a:spcAft>
              <a:defRPr sz="2200" b="1">
                <a:solidFill>
                  <a:srgbClr val="2D2418"/>
                </a:solidFill>
                <a:latin typeface="Segoe UI"/>
              </a:defRPr>
            </a:pPr>
            <a:r>
              <a:t>Response Quality Checker: Hallucination &amp; Egress Safety</a:t>
            </a:r>
          </a:p>
          <a:p>
            <a:pPr>
              <a:defRPr sz="1100">
                <a:solidFill>
                  <a:srgbClr val="6B4F3B"/>
                </a:solidFill>
                <a:latin typeface="Calibri"/>
              </a:defRPr>
            </a:pPr>
            <a:r>
              <a:t>Continuous egress verification ensuring model output is grounded, safe, and leak-free.</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EGRESS VERIFICATION</a:t>
            </a:r>
          </a:p>
        </p:txBody>
      </p:sp>
      <p:sp>
        <p:nvSpPr>
          <p:cNvPr id="5" name="Rounded Rectangle 4"/>
          <p:cNvSpPr/>
          <p:nvPr/>
        </p:nvSpPr>
        <p:spPr>
          <a:xfrm>
            <a:off x="731520" y="1691640"/>
            <a:ext cx="466344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4206240" cy="3931920"/>
          </a:xfrm>
          <a:prstGeom prst="rect">
            <a:avLst/>
          </a:prstGeom>
          <a:noFill/>
        </p:spPr>
        <p:txBody>
          <a:bodyPr wrap="square" lIns="0" tIns="0" rIns="0" bIns="0">
            <a:spAutoFit/>
          </a:bodyPr>
          <a:lstStyle/>
          <a:p>
            <a:pPr>
              <a:spcAft>
                <a:spcPts val="800"/>
              </a:spcAft>
              <a:defRPr sz="1100" b="1">
                <a:solidFill>
                  <a:srgbClr val="D4760A"/>
                </a:solidFill>
                <a:latin typeface="Segoe UI"/>
              </a:defRPr>
            </a:pPr>
            <a:r>
              <a:t>EGRESS GUARDRAILS</a:t>
            </a:r>
          </a:p>
          <a:p>
            <a:pPr>
              <a:spcBef>
                <a:spcPts val="300"/>
              </a:spcBef>
              <a:defRPr sz="1050" b="1">
                <a:solidFill>
                  <a:srgbClr val="2D2418"/>
                </a:solidFill>
                <a:latin typeface="Segoe UI"/>
              </a:defRPr>
            </a:pPr>
            <a:r>
              <a:t>• Hallucination Confidence Scoring</a:t>
            </a:r>
          </a:p>
          <a:p>
            <a:pPr>
              <a:defRPr sz="950">
                <a:solidFill>
                  <a:srgbClr val="6B4F3B"/>
                </a:solidFill>
                <a:latin typeface="Calibri"/>
              </a:defRPr>
            </a:pPr>
            <a:r>
              <a:t>   Statistical evaluation calculating factual grounding and identifying unverified algorithmic output.</a:t>
            </a:r>
          </a:p>
          <a:p>
            <a:pPr>
              <a:spcBef>
                <a:spcPts val="300"/>
              </a:spcBef>
              <a:defRPr sz="1050" b="1">
                <a:solidFill>
                  <a:srgbClr val="2D2418"/>
                </a:solidFill>
                <a:latin typeface="Segoe UI"/>
              </a:defRPr>
            </a:pPr>
            <a:r>
              <a:t>• Accidental Credential Regurgitation</a:t>
            </a:r>
          </a:p>
          <a:p>
            <a:pPr>
              <a:defRPr sz="950">
                <a:solidFill>
                  <a:srgbClr val="6B4F3B"/>
                </a:solidFill>
                <a:latin typeface="Calibri"/>
              </a:defRPr>
            </a:pPr>
            <a:r>
              <a:t>   Guarantees model output has not memorized or regurgitated internal keys, passwords, or customer records.</a:t>
            </a:r>
          </a:p>
          <a:p>
            <a:pPr>
              <a:spcBef>
                <a:spcPts val="300"/>
              </a:spcBef>
              <a:defRPr sz="1050" b="1">
                <a:solidFill>
                  <a:srgbClr val="2D2418"/>
                </a:solidFill>
                <a:latin typeface="Segoe UI"/>
              </a:defRPr>
            </a:pPr>
            <a:r>
              <a:t>• Toxicity &amp; Policy Infractions</a:t>
            </a:r>
          </a:p>
          <a:p>
            <a:pPr>
              <a:defRPr sz="950">
                <a:solidFill>
                  <a:srgbClr val="6B4F3B"/>
                </a:solidFill>
                <a:latin typeface="Calibri"/>
              </a:defRPr>
            </a:pPr>
            <a:r>
              <a:t>   Automated sentiment and language analysis suppressing hostile, defamatory, or biased completions.</a:t>
            </a:r>
          </a:p>
          <a:p>
            <a:pPr>
              <a:spcBef>
                <a:spcPts val="300"/>
              </a:spcBef>
              <a:defRPr sz="1050" b="1">
                <a:solidFill>
                  <a:srgbClr val="2D2418"/>
                </a:solidFill>
                <a:latin typeface="Segoe UI"/>
              </a:defRPr>
            </a:pPr>
            <a:r>
              <a:t>• Compliance Safety Verdict</a:t>
            </a:r>
          </a:p>
          <a:p>
            <a:pPr>
              <a:defRPr sz="950">
                <a:solidFill>
                  <a:srgbClr val="6B4F3B"/>
                </a:solidFill>
                <a:latin typeface="Calibri"/>
              </a:defRPr>
            </a:pPr>
            <a:r>
              <a:t>   Assigns binary PASS / FAIL verdict to completions before payload is delivered to client applications.</a:t>
            </a:r>
          </a:p>
          <a:p>
            <a:pPr>
              <a:spcBef>
                <a:spcPts val="300"/>
              </a:spcBef>
              <a:defRPr sz="1050" b="1">
                <a:solidFill>
                  <a:srgbClr val="2D2418"/>
                </a:solidFill>
                <a:latin typeface="Segoe UI"/>
              </a:defRPr>
            </a:pPr>
            <a:r>
              <a:t>• Automated Fail-Safe Fallbacks</a:t>
            </a:r>
          </a:p>
          <a:p>
            <a:pPr>
              <a:defRPr sz="950">
                <a:solidFill>
                  <a:srgbClr val="6B4F3B"/>
                </a:solidFill>
                <a:latin typeface="Calibri"/>
              </a:defRPr>
            </a:pPr>
            <a:r>
              <a:t>   Quarantined toxic or hallucinated responses are automatically substituted with governed corporate notices.</a:t>
            </a:r>
          </a:p>
        </p:txBody>
      </p:sp>
      <p:sp>
        <p:nvSpPr>
          <p:cNvPr id="7" name="Rounded Rectangle 6"/>
          <p:cNvSpPr/>
          <p:nvPr/>
        </p:nvSpPr>
        <p:spPr>
          <a:xfrm>
            <a:off x="5669280" y="1691640"/>
            <a:ext cx="5790895" cy="4389120"/>
          </a:xfrm>
          <a:prstGeom prst="roundRect">
            <a:avLst/>
          </a:prstGeom>
          <a:solidFill>
            <a:srgbClr val="FFF3E0"/>
          </a:solidFill>
          <a:ln w="15240">
            <a:solidFill>
              <a:srgbClr val="D4B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874520"/>
            <a:ext cx="5425135" cy="4023360"/>
          </a:xfrm>
          <a:prstGeom prst="rect">
            <a:avLst/>
          </a:prstGeom>
          <a:noFill/>
        </p:spPr>
        <p:txBody>
          <a:bodyPr wrap="square" anchor="ctr" lIns="0" tIns="0" rIns="0" bIns="0">
            <a:spAutoFit/>
          </a:bodyPr>
          <a:lstStyle/>
          <a:p>
            <a:pPr algn="ctr">
              <a:spcAft>
                <a:spcPts val="600"/>
              </a:spcAft>
              <a:defRPr sz="1100" b="1">
                <a:solidFill>
                  <a:srgbClr val="D4760A"/>
                </a:solidFill>
                <a:latin typeface="Segoe UI"/>
              </a:defRPr>
            </a:pPr>
            <a:r>
              <a:t>[ APPLICATION SCREENSHOT REQUIRED ]</a:t>
            </a:r>
          </a:p>
          <a:p>
            <a:pPr algn="ctr">
              <a:spcAft>
                <a:spcPts val="800"/>
              </a:spcAft>
              <a:defRPr sz="1300" b="1">
                <a:solidFill>
                  <a:srgbClr val="2D2418"/>
                </a:solidFill>
                <a:latin typeface="Segoe UI"/>
              </a:defRPr>
            </a:pPr>
            <a:r>
              <a:t>Response Quality Checker &amp; Hallucination Score</a:t>
            </a:r>
          </a:p>
          <a:p>
            <a:pPr algn="ctr">
              <a:defRPr sz="950">
                <a:solidFill>
                  <a:srgbClr val="6B4F3B"/>
                </a:solidFill>
                <a:latin typeface="Calibri"/>
              </a:defRPr>
            </a:pPr>
            <a:r>
              <a:t>Display quality evaluation view showing response verdict (PASS/FAIL), toxicity score, and hallucination percentage.</a:t>
            </a:r>
          </a:p>
          <a:p>
            <a:pPr algn="ctr">
              <a:spcBef>
                <a:spcPts val="800"/>
              </a:spcBef>
              <a:defRPr sz="850" i="1">
                <a:solidFill>
                  <a:srgbClr val="9C7D64"/>
                </a:solidFill>
                <a:latin typeface="Calibri"/>
              </a:defRPr>
            </a:pPr>
            <a:r>
              <a:t>Drop / Paste verified application screenshot here (16:9 ratio recommended)</a:t>
            </a:r>
          </a:p>
        </p:txBody>
      </p:sp>
      <p:sp>
        <p:nvSpPr>
          <p:cNvPr id="9" name="Rectangle 8"/>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Key Differentiator: Many products only inspect ingress prompts. Guardian inspects BOTH prompt and LLM response.</a:t>
            </a:r>
          </a:p>
        </p:txBody>
      </p:sp>
      <p:sp>
        <p:nvSpPr>
          <p:cNvPr id="11" name="TextBox 10"/>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REGULATORY CONFORMANCE</a:t>
            </a:r>
          </a:p>
          <a:p>
            <a:pPr>
              <a:spcAft>
                <a:spcPts val="200"/>
              </a:spcAft>
              <a:defRPr sz="2200" b="1">
                <a:solidFill>
                  <a:srgbClr val="2D2418"/>
                </a:solidFill>
                <a:latin typeface="Segoe UI"/>
              </a:defRPr>
            </a:pPr>
            <a:r>
              <a:t>Audit &amp; Compliance Ledger: Tamper-Evident History</a:t>
            </a:r>
          </a:p>
          <a:p>
            <a:pPr>
              <a:defRPr sz="1100">
                <a:solidFill>
                  <a:srgbClr val="6B4F3B"/>
                </a:solidFill>
                <a:latin typeface="Calibri"/>
              </a:defRPr>
            </a:pPr>
            <a:r>
              <a:t>Immutable, structured interaction records ready for NIST AI RMF, ISO 42001, and OWASP audits.</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NIST AI RMF COMPLIANT</a:t>
            </a:r>
          </a:p>
        </p:txBody>
      </p:sp>
      <p:sp>
        <p:nvSpPr>
          <p:cNvPr id="5" name="Rounded Rectangle 4"/>
          <p:cNvSpPr/>
          <p:nvPr/>
        </p:nvSpPr>
        <p:spPr>
          <a:xfrm>
            <a:off x="731520" y="1691640"/>
            <a:ext cx="466344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4206240" cy="3931920"/>
          </a:xfrm>
          <a:prstGeom prst="rect">
            <a:avLst/>
          </a:prstGeom>
          <a:noFill/>
        </p:spPr>
        <p:txBody>
          <a:bodyPr wrap="square" lIns="0" tIns="0" rIns="0" bIns="0">
            <a:spAutoFit/>
          </a:bodyPr>
          <a:lstStyle/>
          <a:p>
            <a:pPr>
              <a:spcAft>
                <a:spcPts val="800"/>
              </a:spcAft>
              <a:defRPr sz="1100" b="1">
                <a:solidFill>
                  <a:srgbClr val="D4760A"/>
                </a:solidFill>
                <a:latin typeface="Segoe UI"/>
              </a:defRPr>
            </a:pPr>
            <a:r>
              <a:t>FULL-FIDELITY AUDIT TRAIL</a:t>
            </a:r>
          </a:p>
          <a:p>
            <a:pPr>
              <a:spcAft>
                <a:spcPts val="600"/>
              </a:spcAft>
              <a:defRPr sz="1050">
                <a:solidFill>
                  <a:srgbClr val="2D2418"/>
                </a:solidFill>
                <a:latin typeface="Calibri"/>
              </a:defRPr>
            </a:pPr>
            <a:r>
              <a:t>Every transaction is logged asynchronously through Kafka into persistent storage, capturing complete forensic metadata without degrading gateway latency:</a:t>
            </a:r>
          </a:p>
          <a:p>
            <a:pPr>
              <a:defRPr sz="1000" b="1">
                <a:solidFill>
                  <a:srgbClr val="2D2418"/>
                </a:solidFill>
                <a:latin typeface="Segoe UI"/>
              </a:defRPr>
            </a:pPr>
            <a:r>
              <a:t>• User Identity &amp; Department:</a:t>
            </a:r>
          </a:p>
          <a:p>
            <a:pPr>
              <a:defRPr sz="950">
                <a:solidFill>
                  <a:srgbClr val="6B4F3B"/>
                </a:solidFill>
                <a:latin typeface="Calibri"/>
              </a:defRPr>
            </a:pPr>
            <a:r>
              <a:t>   Authenticated email, user role, client IP address, and department cost center.</a:t>
            </a:r>
          </a:p>
          <a:p>
            <a:pPr>
              <a:defRPr sz="1000" b="1">
                <a:solidFill>
                  <a:srgbClr val="2D2418"/>
                </a:solidFill>
                <a:latin typeface="Segoe UI"/>
              </a:defRPr>
            </a:pPr>
            <a:r>
              <a:t>• Prompt Category &amp; Entities:</a:t>
            </a:r>
          </a:p>
          <a:p>
            <a:pPr>
              <a:defRPr sz="950">
                <a:solidFill>
                  <a:srgbClr val="6B4F3B"/>
                </a:solidFill>
                <a:latin typeface="Calibri"/>
              </a:defRPr>
            </a:pPr>
            <a:r>
              <a:t>   Classification intent tag and enumerated list of detected sensitive entities.</a:t>
            </a:r>
          </a:p>
          <a:p>
            <a:pPr>
              <a:defRPr sz="1000" b="1">
                <a:solidFill>
                  <a:srgbClr val="2D2418"/>
                </a:solidFill>
                <a:latin typeface="Segoe UI"/>
              </a:defRPr>
            </a:pPr>
            <a:r>
              <a:t>• Risk Score &amp; Decision Verdict:</a:t>
            </a:r>
          </a:p>
          <a:p>
            <a:pPr>
              <a:defRPr sz="950">
                <a:solidFill>
                  <a:srgbClr val="6B4F3B"/>
                </a:solidFill>
                <a:latin typeface="Calibri"/>
              </a:defRPr>
            </a:pPr>
            <a:r>
              <a:t>   Composite risk index (0-100) and authoritative enforcement action (ALLOW/REVIEW/BLOCK).</a:t>
            </a:r>
          </a:p>
          <a:p>
            <a:pPr>
              <a:defRPr sz="1000" b="1">
                <a:solidFill>
                  <a:srgbClr val="2D2418"/>
                </a:solidFill>
                <a:latin typeface="Segoe UI"/>
              </a:defRPr>
            </a:pPr>
            <a:r>
              <a:t>• Tokens &amp; Micro-Cost Billing:</a:t>
            </a:r>
          </a:p>
          <a:p>
            <a:pPr>
              <a:defRPr sz="950">
                <a:solidFill>
                  <a:srgbClr val="6B4F3B"/>
                </a:solidFill>
                <a:latin typeface="Calibri"/>
              </a:defRPr>
            </a:pPr>
            <a:r>
              <a:t>   Prompt tokens, completion tokens, execution time in ms, and exact dollar cost.</a:t>
            </a:r>
          </a:p>
          <a:p>
            <a:pPr>
              <a:defRPr sz="1000" b="1">
                <a:solidFill>
                  <a:srgbClr val="2D2418"/>
                </a:solidFill>
                <a:latin typeface="Segoe UI"/>
              </a:defRPr>
            </a:pPr>
            <a:r>
              <a:t>• Compliance Framework Alignment:</a:t>
            </a:r>
          </a:p>
          <a:p>
            <a:pPr>
              <a:defRPr sz="950">
                <a:solidFill>
                  <a:srgbClr val="6B4F3B"/>
                </a:solidFill>
                <a:latin typeface="Calibri"/>
              </a:defRPr>
            </a:pPr>
            <a:r>
              <a:t>   Real-time mapping against OWASP Top 10 for LLMs (LLM01-LLM06) and ISO/IEC 42001.</a:t>
            </a:r>
          </a:p>
        </p:txBody>
      </p:sp>
      <p:sp>
        <p:nvSpPr>
          <p:cNvPr id="7" name="Rounded Rectangle 6"/>
          <p:cNvSpPr/>
          <p:nvPr/>
        </p:nvSpPr>
        <p:spPr>
          <a:xfrm>
            <a:off x="5669280" y="1691640"/>
            <a:ext cx="5790895" cy="4389120"/>
          </a:xfrm>
          <a:prstGeom prst="roundRect">
            <a:avLst/>
          </a:prstGeom>
          <a:solidFill>
            <a:srgbClr val="FFF3E0"/>
          </a:solidFill>
          <a:ln w="15240">
            <a:solidFill>
              <a:srgbClr val="D4B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874520"/>
            <a:ext cx="5425135" cy="4023360"/>
          </a:xfrm>
          <a:prstGeom prst="rect">
            <a:avLst/>
          </a:prstGeom>
          <a:noFill/>
        </p:spPr>
        <p:txBody>
          <a:bodyPr wrap="square" anchor="ctr" lIns="0" tIns="0" rIns="0" bIns="0">
            <a:spAutoFit/>
          </a:bodyPr>
          <a:lstStyle/>
          <a:p>
            <a:pPr algn="ctr">
              <a:spcAft>
                <a:spcPts val="600"/>
              </a:spcAft>
              <a:defRPr sz="1100" b="1">
                <a:solidFill>
                  <a:srgbClr val="D4760A"/>
                </a:solidFill>
                <a:latin typeface="Segoe UI"/>
              </a:defRPr>
            </a:pPr>
            <a:r>
              <a:t>[ APPLICATION SCREENSHOT REQUIRED ]</a:t>
            </a:r>
          </a:p>
          <a:p>
            <a:pPr algn="ctr">
              <a:spcAft>
                <a:spcPts val="800"/>
              </a:spcAft>
              <a:defRPr sz="1300" b="1">
                <a:solidFill>
                  <a:srgbClr val="2D2418"/>
                </a:solidFill>
                <a:latin typeface="Segoe UI"/>
              </a:defRPr>
            </a:pPr>
            <a:r>
              <a:t>Audit Log Explorer &amp; Compliance Search</a:t>
            </a:r>
          </a:p>
          <a:p>
            <a:pPr algn="ctr">
              <a:defRPr sz="950">
                <a:solidFill>
                  <a:srgbClr val="6B4F3B"/>
                </a:solidFill>
                <a:latin typeface="Calibri"/>
              </a:defRPr>
            </a:pPr>
            <a:r>
              <a:t>Display Audit Log Explorer table showcasing filter tabs (All, Risk Alerts, Blocked, Review), user IDs, risk scores, and timestamps.</a:t>
            </a:r>
          </a:p>
          <a:p>
            <a:pPr algn="ctr">
              <a:spcBef>
                <a:spcPts val="800"/>
              </a:spcBef>
              <a:defRPr sz="850" i="1">
                <a:solidFill>
                  <a:srgbClr val="9C7D64"/>
                </a:solidFill>
                <a:latin typeface="Calibri"/>
              </a:defRPr>
            </a:pPr>
            <a:r>
              <a:t>Drop / Paste verified application screenshot here (16:9 ratio recommended)</a:t>
            </a:r>
          </a:p>
        </p:txBody>
      </p:sp>
      <p:sp>
        <p:nvSpPr>
          <p:cNvPr id="9" name="Rectangle 8"/>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Tell the jury: In an enterprise audit, SecOps can export complete forensic proof for any prompt in under 5 seconds.</a:t>
            </a:r>
          </a:p>
        </p:txBody>
      </p:sp>
      <p:sp>
        <p:nvSpPr>
          <p:cNvPr id="11" name="TextBox 10"/>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OPERATIONAL VISIBILITY</a:t>
            </a:r>
          </a:p>
          <a:p>
            <a:pPr>
              <a:spcAft>
                <a:spcPts val="200"/>
              </a:spcAft>
              <a:defRPr sz="2200" b="1">
                <a:solidFill>
                  <a:srgbClr val="2D2418"/>
                </a:solidFill>
                <a:latin typeface="Segoe UI"/>
              </a:defRPr>
            </a:pPr>
            <a:r>
              <a:t>Executive Operations Dashboard: Real-Time Governance</a:t>
            </a:r>
          </a:p>
          <a:p>
            <a:pPr>
              <a:defRPr sz="1100">
                <a:solidFill>
                  <a:srgbClr val="6B4F3B"/>
                </a:solidFill>
                <a:latin typeface="Calibri"/>
              </a:defRPr>
            </a:pPr>
            <a:r>
              <a:t>A unified single-pane-of-glass command center for CISOs, SecOps, and IT leaders.</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SINGLE-PANE-OF-GLASS</a:t>
            </a:r>
          </a:p>
        </p:txBody>
      </p:sp>
      <p:sp>
        <p:nvSpPr>
          <p:cNvPr id="5" name="Rounded Rectangle 4"/>
          <p:cNvSpPr/>
          <p:nvPr/>
        </p:nvSpPr>
        <p:spPr>
          <a:xfrm>
            <a:off x="731520" y="1691640"/>
            <a:ext cx="466344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4206240" cy="3931920"/>
          </a:xfrm>
          <a:prstGeom prst="rect">
            <a:avLst/>
          </a:prstGeom>
          <a:noFill/>
        </p:spPr>
        <p:txBody>
          <a:bodyPr wrap="square" lIns="0" tIns="0" rIns="0" bIns="0">
            <a:spAutoFit/>
          </a:bodyPr>
          <a:lstStyle/>
          <a:p>
            <a:pPr>
              <a:spcAft>
                <a:spcPts val="800"/>
              </a:spcAft>
              <a:defRPr sz="1100" b="1">
                <a:solidFill>
                  <a:srgbClr val="D4760A"/>
                </a:solidFill>
                <a:latin typeface="Segoe UI"/>
              </a:defRPr>
            </a:pPr>
            <a:r>
              <a:t>EXECUTIVE TELEMETRY</a:t>
            </a:r>
          </a:p>
          <a:p>
            <a:pPr>
              <a:spcBef>
                <a:spcPts val="300"/>
              </a:spcBef>
              <a:defRPr sz="1050" b="1">
                <a:solidFill>
                  <a:srgbClr val="2D2418"/>
                </a:solidFill>
                <a:latin typeface="Segoe UI"/>
              </a:defRPr>
            </a:pPr>
            <a:r>
              <a:t>• Real-Time Ingestion Volume</a:t>
            </a:r>
          </a:p>
          <a:p>
            <a:pPr>
              <a:defRPr sz="950">
                <a:solidFill>
                  <a:srgbClr val="6B4F3B"/>
                </a:solidFill>
                <a:latin typeface="Calibri"/>
              </a:defRPr>
            </a:pPr>
            <a:r>
              <a:t>   Live prompt ingestion rate, peak concurrency, and 24-hour volume trajectory.</a:t>
            </a:r>
          </a:p>
          <a:p>
            <a:pPr>
              <a:spcBef>
                <a:spcPts val="300"/>
              </a:spcBef>
              <a:defRPr sz="1050" b="1">
                <a:solidFill>
                  <a:srgbClr val="2D2418"/>
                </a:solidFill>
                <a:latin typeface="Segoe UI"/>
              </a:defRPr>
            </a:pPr>
            <a:r>
              <a:t>• Threat Containment Metrics</a:t>
            </a:r>
          </a:p>
          <a:p>
            <a:pPr>
              <a:defRPr sz="950">
                <a:solidFill>
                  <a:srgbClr val="6B4F3B"/>
                </a:solidFill>
                <a:latin typeface="Calibri"/>
              </a:defRPr>
            </a:pPr>
            <a:r>
              <a:t>   Total blocked attacks, auto-redacted tokens count, and jailbreak prevention ratio.</a:t>
            </a:r>
          </a:p>
          <a:p>
            <a:pPr>
              <a:spcBef>
                <a:spcPts val="300"/>
              </a:spcBef>
              <a:defRPr sz="1050" b="1">
                <a:solidFill>
                  <a:srgbClr val="2D2418"/>
                </a:solidFill>
                <a:latin typeface="Segoe UI"/>
              </a:defRPr>
            </a:pPr>
            <a:r>
              <a:t>• Pending Human Approvals</a:t>
            </a:r>
          </a:p>
          <a:p>
            <a:pPr>
              <a:defRPr sz="950">
                <a:solidFill>
                  <a:srgbClr val="6B4F3B"/>
                </a:solidFill>
                <a:latin typeface="Calibri"/>
              </a:defRPr>
            </a:pPr>
            <a:r>
              <a:t>   Immediate visibility into tickets queued for manual human authorization.</a:t>
            </a:r>
          </a:p>
          <a:p>
            <a:pPr>
              <a:spcBef>
                <a:spcPts val="300"/>
              </a:spcBef>
              <a:defRPr sz="1050" b="1">
                <a:solidFill>
                  <a:srgbClr val="2D2418"/>
                </a:solidFill>
                <a:latin typeface="Segoe UI"/>
              </a:defRPr>
            </a:pPr>
            <a:r>
              <a:t>• Enterprise AI Spend Meter</a:t>
            </a:r>
          </a:p>
          <a:p>
            <a:pPr>
              <a:defRPr sz="950">
                <a:solidFill>
                  <a:srgbClr val="6B4F3B"/>
                </a:solidFill>
                <a:latin typeface="Calibri"/>
              </a:defRPr>
            </a:pPr>
            <a:r>
              <a:t>   Cumulative financial consumption broken down by department, model, and project.</a:t>
            </a:r>
          </a:p>
          <a:p>
            <a:pPr>
              <a:spcBef>
                <a:spcPts val="300"/>
              </a:spcBef>
              <a:defRPr sz="1050" b="1">
                <a:solidFill>
                  <a:srgbClr val="2D2418"/>
                </a:solidFill>
                <a:latin typeface="Segoe UI"/>
              </a:defRPr>
            </a:pPr>
            <a:r>
              <a:t>• Risk Tier Distribution</a:t>
            </a:r>
          </a:p>
          <a:p>
            <a:pPr>
              <a:defRPr sz="950">
                <a:solidFill>
                  <a:srgbClr val="6B4F3B"/>
                </a:solidFill>
                <a:latin typeface="Calibri"/>
              </a:defRPr>
            </a:pPr>
            <a:r>
              <a:t>   Proportional breakdown of enterprise traffic across Low, Medium, High, and Critical.</a:t>
            </a:r>
          </a:p>
        </p:txBody>
      </p:sp>
      <p:sp>
        <p:nvSpPr>
          <p:cNvPr id="7" name="Rounded Rectangle 6"/>
          <p:cNvSpPr/>
          <p:nvPr/>
        </p:nvSpPr>
        <p:spPr>
          <a:xfrm>
            <a:off x="5669280" y="1691640"/>
            <a:ext cx="5790895" cy="4389120"/>
          </a:xfrm>
          <a:prstGeom prst="roundRect">
            <a:avLst/>
          </a:prstGeom>
          <a:solidFill>
            <a:srgbClr val="FFF3E0"/>
          </a:solidFill>
          <a:ln w="15240">
            <a:solidFill>
              <a:srgbClr val="D4B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874520"/>
            <a:ext cx="5425135" cy="4023360"/>
          </a:xfrm>
          <a:prstGeom prst="rect">
            <a:avLst/>
          </a:prstGeom>
          <a:noFill/>
        </p:spPr>
        <p:txBody>
          <a:bodyPr wrap="square" anchor="ctr" lIns="0" tIns="0" rIns="0" bIns="0">
            <a:spAutoFit/>
          </a:bodyPr>
          <a:lstStyle/>
          <a:p>
            <a:pPr algn="ctr">
              <a:spcAft>
                <a:spcPts val="600"/>
              </a:spcAft>
              <a:defRPr sz="1100" b="1">
                <a:solidFill>
                  <a:srgbClr val="D4760A"/>
                </a:solidFill>
                <a:latin typeface="Segoe UI"/>
              </a:defRPr>
            </a:pPr>
            <a:r>
              <a:t>[ APPLICATION SCREENSHOT REQUIRED ]</a:t>
            </a:r>
          </a:p>
          <a:p>
            <a:pPr algn="ctr">
              <a:spcAft>
                <a:spcPts val="800"/>
              </a:spcAft>
              <a:defRPr sz="1300" b="1">
                <a:solidFill>
                  <a:srgbClr val="2D2418"/>
                </a:solidFill>
                <a:latin typeface="Segoe UI"/>
              </a:defRPr>
            </a:pPr>
            <a:r>
              <a:t>Executive Governance Dashboard</a:t>
            </a:r>
          </a:p>
          <a:p>
            <a:pPr algn="ctr">
              <a:defRPr sz="950">
                <a:solidFill>
                  <a:srgbClr val="6B4F3B"/>
                </a:solidFill>
                <a:latin typeface="Calibri"/>
              </a:defRPr>
            </a:pPr>
            <a:r>
              <a:t>Display primary Operations Dashboard showing 4 top KPI cards (Total Requests, Blocked, Pending, Cost) and 24-Hour Traffic Chart.</a:t>
            </a:r>
          </a:p>
          <a:p>
            <a:pPr algn="ctr">
              <a:spcBef>
                <a:spcPts val="800"/>
              </a:spcBef>
              <a:defRPr sz="850" i="1">
                <a:solidFill>
                  <a:srgbClr val="9C7D64"/>
                </a:solidFill>
                <a:latin typeface="Calibri"/>
              </a:defRPr>
            </a:pPr>
            <a:r>
              <a:t>Drop / Paste verified application screenshot here (16:9 ratio recommended)</a:t>
            </a:r>
          </a:p>
        </p:txBody>
      </p:sp>
      <p:sp>
        <p:nvSpPr>
          <p:cNvPr id="9" name="Rectangle 8"/>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Point out the Saffron theme: Clean enterprise design that executive leadership can present directly to boardroom stakeholders.</a:t>
            </a:r>
          </a:p>
        </p:txBody>
      </p:sp>
      <p:sp>
        <p:nvSpPr>
          <p:cNvPr id="11" name="TextBox 10"/>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13 /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SECOPS INCIDENT TRIAGE</a:t>
            </a:r>
          </a:p>
          <a:p>
            <a:pPr>
              <a:spcAft>
                <a:spcPts val="200"/>
              </a:spcAft>
              <a:defRPr sz="2200" b="1">
                <a:solidFill>
                  <a:srgbClr val="2D2418"/>
                </a:solidFill>
                <a:latin typeface="Segoe UI"/>
              </a:defRPr>
            </a:pPr>
            <a:r>
              <a:t>Real-Time Risk Alerts &amp; Automated Incident Triage</a:t>
            </a:r>
          </a:p>
          <a:p>
            <a:pPr>
              <a:defRPr sz="1100">
                <a:solidFill>
                  <a:srgbClr val="6B4F3B"/>
                </a:solidFill>
                <a:latin typeface="Calibri"/>
              </a:defRPr>
            </a:pPr>
            <a:r>
              <a:t>Instant alerting on critical breach attempts with one-click trace and policy correlation.</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ZERO-DELAY ALERTS</a:t>
            </a:r>
          </a:p>
        </p:txBody>
      </p:sp>
      <p:sp>
        <p:nvSpPr>
          <p:cNvPr id="5" name="Rounded Rectangle 4"/>
          <p:cNvSpPr/>
          <p:nvPr/>
        </p:nvSpPr>
        <p:spPr>
          <a:xfrm>
            <a:off x="731520" y="1691640"/>
            <a:ext cx="466344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4206240" cy="3931920"/>
          </a:xfrm>
          <a:prstGeom prst="rect">
            <a:avLst/>
          </a:prstGeom>
          <a:noFill/>
        </p:spPr>
        <p:txBody>
          <a:bodyPr wrap="square" lIns="0" tIns="0" rIns="0" bIns="0">
            <a:spAutoFit/>
          </a:bodyPr>
          <a:lstStyle/>
          <a:p>
            <a:pPr>
              <a:spcAft>
                <a:spcPts val="800"/>
              </a:spcAft>
              <a:defRPr sz="1100" b="1">
                <a:solidFill>
                  <a:srgbClr val="D4760A"/>
                </a:solidFill>
                <a:latin typeface="Segoe UI"/>
              </a:defRPr>
            </a:pPr>
            <a:r>
              <a:t>INCIDENT DETECTION &amp; MITIGATION</a:t>
            </a:r>
          </a:p>
          <a:p>
            <a:pPr>
              <a:spcBef>
                <a:spcPts val="300"/>
              </a:spcBef>
              <a:defRPr sz="1050" b="1">
                <a:solidFill>
                  <a:srgbClr val="2D2418"/>
                </a:solidFill>
                <a:latin typeface="Segoe UI"/>
              </a:defRPr>
            </a:pPr>
            <a:r>
              <a:t>• Critical Event Escalation</a:t>
            </a:r>
          </a:p>
          <a:p>
            <a:pPr>
              <a:defRPr sz="950">
                <a:solidFill>
                  <a:srgbClr val="6B4F3B"/>
                </a:solidFill>
                <a:latin typeface="Calibri"/>
              </a:defRPr>
            </a:pPr>
            <a:r>
              <a:t>   Real-time UI alerts for high-severity jailbreak overrides and root AWS/OpenAI key leaks.</a:t>
            </a:r>
          </a:p>
          <a:p>
            <a:pPr>
              <a:spcBef>
                <a:spcPts val="300"/>
              </a:spcBef>
              <a:defRPr sz="1050" b="1">
                <a:solidFill>
                  <a:srgbClr val="2D2418"/>
                </a:solidFill>
                <a:latin typeface="Segoe UI"/>
              </a:defRPr>
            </a:pPr>
            <a:r>
              <a:t>• Policy Infraction Attribution</a:t>
            </a:r>
          </a:p>
          <a:p>
            <a:pPr>
              <a:defRPr sz="950">
                <a:solidFill>
                  <a:srgbClr val="6B4F3B"/>
                </a:solidFill>
                <a:latin typeface="Calibri"/>
              </a:defRPr>
            </a:pPr>
            <a:r>
              <a:t>   Pinpointing exact policy rules breached (e.g. POL-01 Prompt Injection, POL-03 Customer PII).</a:t>
            </a:r>
          </a:p>
          <a:p>
            <a:pPr>
              <a:spcBef>
                <a:spcPts val="300"/>
              </a:spcBef>
              <a:defRPr sz="1050" b="1">
                <a:solidFill>
                  <a:srgbClr val="2D2418"/>
                </a:solidFill>
                <a:latin typeface="Segoe UI"/>
              </a:defRPr>
            </a:pPr>
            <a:r>
              <a:t>• Adversarial Pattern Clustering</a:t>
            </a:r>
          </a:p>
          <a:p>
            <a:pPr>
              <a:defRPr sz="950">
                <a:solidFill>
                  <a:srgbClr val="6B4F3B"/>
                </a:solidFill>
                <a:latin typeface="Calibri"/>
              </a:defRPr>
            </a:pPr>
            <a:r>
              <a:t>   Correlating repeated attack patterns across callers, IP subnets, or compromised tokens.</a:t>
            </a:r>
          </a:p>
          <a:p>
            <a:pPr>
              <a:spcBef>
                <a:spcPts val="300"/>
              </a:spcBef>
              <a:defRPr sz="1050" b="1">
                <a:solidFill>
                  <a:srgbClr val="2D2418"/>
                </a:solidFill>
                <a:latin typeface="Segoe UI"/>
              </a:defRPr>
            </a:pPr>
            <a:r>
              <a:t>• One-Click Forensic Drilldown</a:t>
            </a:r>
          </a:p>
          <a:p>
            <a:pPr>
              <a:defRPr sz="950">
                <a:solidFill>
                  <a:srgbClr val="6B4F3B"/>
                </a:solidFill>
                <a:latin typeface="Calibri"/>
              </a:defRPr>
            </a:pPr>
            <a:r>
              <a:t>   Direct link to sanitized prompt trace, detector matches, and raw execution timeline.</a:t>
            </a:r>
          </a:p>
          <a:p>
            <a:pPr>
              <a:spcBef>
                <a:spcPts val="300"/>
              </a:spcBef>
              <a:defRPr sz="1050" b="1">
                <a:solidFill>
                  <a:srgbClr val="2D2418"/>
                </a:solidFill>
                <a:latin typeface="Segoe UI"/>
              </a:defRPr>
            </a:pPr>
            <a:r>
              <a:t>• Automated Threat Quarantine</a:t>
            </a:r>
          </a:p>
          <a:p>
            <a:pPr>
              <a:defRPr sz="950">
                <a:solidFill>
                  <a:srgbClr val="6B4F3B"/>
                </a:solidFill>
                <a:latin typeface="Calibri"/>
              </a:defRPr>
            </a:pPr>
            <a:r>
              <a:t>   Configurable auto-isolation of repeat-offender caller tokens or unauthorized API clients.</a:t>
            </a:r>
          </a:p>
        </p:txBody>
      </p:sp>
      <p:sp>
        <p:nvSpPr>
          <p:cNvPr id="7" name="Rounded Rectangle 6"/>
          <p:cNvSpPr/>
          <p:nvPr/>
        </p:nvSpPr>
        <p:spPr>
          <a:xfrm>
            <a:off x="5669280" y="1691640"/>
            <a:ext cx="5790895" cy="4389120"/>
          </a:xfrm>
          <a:prstGeom prst="roundRect">
            <a:avLst/>
          </a:prstGeom>
          <a:solidFill>
            <a:srgbClr val="FFF3E0"/>
          </a:solidFill>
          <a:ln w="15240">
            <a:solidFill>
              <a:srgbClr val="D4B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874520"/>
            <a:ext cx="5425135" cy="4023360"/>
          </a:xfrm>
          <a:prstGeom prst="rect">
            <a:avLst/>
          </a:prstGeom>
          <a:noFill/>
        </p:spPr>
        <p:txBody>
          <a:bodyPr wrap="square" anchor="ctr" lIns="0" tIns="0" rIns="0" bIns="0">
            <a:spAutoFit/>
          </a:bodyPr>
          <a:lstStyle/>
          <a:p>
            <a:pPr algn="ctr">
              <a:spcAft>
                <a:spcPts val="600"/>
              </a:spcAft>
              <a:defRPr sz="1100" b="1">
                <a:solidFill>
                  <a:srgbClr val="D4760A"/>
                </a:solidFill>
                <a:latin typeface="Segoe UI"/>
              </a:defRPr>
            </a:pPr>
            <a:r>
              <a:t>[ APPLICATION SCREENSHOT REQUIRED ]</a:t>
            </a:r>
          </a:p>
          <a:p>
            <a:pPr algn="ctr">
              <a:spcAft>
                <a:spcPts val="800"/>
              </a:spcAft>
              <a:defRPr sz="1300" b="1">
                <a:solidFill>
                  <a:srgbClr val="2D2418"/>
                </a:solidFill>
                <a:latin typeface="Segoe UI"/>
              </a:defRPr>
            </a:pPr>
            <a:r>
              <a:t>Risk Alerts &amp; Incident Notification Center</a:t>
            </a:r>
          </a:p>
          <a:p>
            <a:pPr algn="ctr">
              <a:defRPr sz="950">
                <a:solidFill>
                  <a:srgbClr val="6B4F3B"/>
                </a:solidFill>
                <a:latin typeface="Calibri"/>
              </a:defRPr>
            </a:pPr>
            <a:r>
              <a:t>Display UI notification drop-panel and alerts explorer highlighting Critical, Warning, and Info security events.</a:t>
            </a:r>
          </a:p>
          <a:p>
            <a:pPr algn="ctr">
              <a:spcBef>
                <a:spcPts val="800"/>
              </a:spcBef>
              <a:defRPr sz="850" i="1">
                <a:solidFill>
                  <a:srgbClr val="9C7D64"/>
                </a:solidFill>
                <a:latin typeface="Calibri"/>
              </a:defRPr>
            </a:pPr>
            <a:r>
              <a:t>Drop / Paste verified application screenshot here (16:9 ratio recommended)</a:t>
            </a:r>
          </a:p>
        </p:txBody>
      </p:sp>
      <p:sp>
        <p:nvSpPr>
          <p:cNvPr id="9" name="Rectangle 8"/>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Explain the triage: SecOps is not inundated with noisy logs; only statistically anomalous, high-risk items trigger active alerts.</a:t>
            </a:r>
          </a:p>
        </p:txBody>
      </p:sp>
      <p:sp>
        <p:nvSpPr>
          <p:cNvPr id="11" name="TextBox 10"/>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HUMAN GOVERNANCE</a:t>
            </a:r>
          </a:p>
          <a:p>
            <a:pPr>
              <a:spcAft>
                <a:spcPts val="200"/>
              </a:spcAft>
              <a:defRPr sz="2200" b="1">
                <a:solidFill>
                  <a:srgbClr val="2D2418"/>
                </a:solidFill>
                <a:latin typeface="Segoe UI"/>
              </a:defRPr>
            </a:pPr>
            <a:r>
              <a:t>Approval Workflow: Human-in-the-Loop Governance</a:t>
            </a:r>
          </a:p>
          <a:p>
            <a:pPr>
              <a:defRPr sz="1100">
                <a:solidFill>
                  <a:srgbClr val="6B4F3B"/>
                </a:solidFill>
                <a:latin typeface="Calibri"/>
              </a:defRPr>
            </a:pPr>
            <a:r>
              <a:t>Controlled delegation for high-impact queries requiring human authorization.</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CONTROLLED DELEGATION</a:t>
            </a:r>
          </a:p>
        </p:txBody>
      </p:sp>
      <p:sp>
        <p:nvSpPr>
          <p:cNvPr id="5" name="Rounded Rectangle 4"/>
          <p:cNvSpPr/>
          <p:nvPr/>
        </p:nvSpPr>
        <p:spPr>
          <a:xfrm>
            <a:off x="731520" y="1691640"/>
            <a:ext cx="466344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4206240" cy="3931920"/>
          </a:xfrm>
          <a:prstGeom prst="rect">
            <a:avLst/>
          </a:prstGeom>
          <a:noFill/>
        </p:spPr>
        <p:txBody>
          <a:bodyPr wrap="square" lIns="0" tIns="0" rIns="0" bIns="0">
            <a:spAutoFit/>
          </a:bodyPr>
          <a:lstStyle/>
          <a:p>
            <a:pPr>
              <a:spcAft>
                <a:spcPts val="800"/>
              </a:spcAft>
              <a:defRPr sz="1100" b="1">
                <a:solidFill>
                  <a:srgbClr val="D4760A"/>
                </a:solidFill>
                <a:latin typeface="Segoe UI"/>
              </a:defRPr>
            </a:pPr>
            <a:r>
              <a:t>GOVERNANCE TICKET LIFECYCLE</a:t>
            </a:r>
          </a:p>
          <a:p>
            <a:pPr>
              <a:spcAft>
                <a:spcPts val="800"/>
              </a:spcAft>
              <a:defRPr sz="1050">
                <a:solidFill>
                  <a:srgbClr val="2D2418"/>
                </a:solidFill>
                <a:latin typeface="Calibri"/>
              </a:defRPr>
            </a:pPr>
            <a:r>
              <a:t>When an interaction triggers moderate risk (60-79) or exceeds cost thresholds, it is held in a secure pending queue rather than being rejected outright:</a:t>
            </a:r>
          </a:p>
          <a:p>
            <a:pPr>
              <a:defRPr sz="1000" b="1">
                <a:solidFill>
                  <a:srgbClr val="2D2418"/>
                </a:solidFill>
                <a:latin typeface="Segoe UI"/>
              </a:defRPr>
            </a:pPr>
            <a:r>
              <a:t>• 1. Request Flagged</a:t>
            </a:r>
          </a:p>
          <a:p>
            <a:pPr>
              <a:defRPr sz="950">
                <a:solidFill>
                  <a:srgbClr val="6B4F3B"/>
                </a:solidFill>
                <a:latin typeface="Calibri"/>
              </a:defRPr>
            </a:pPr>
            <a:r>
              <a:t>   Engine assigns REVIEW status based on elevated risk score (60-79) or budget limits.</a:t>
            </a:r>
          </a:p>
          <a:p>
            <a:pPr>
              <a:defRPr sz="1000" b="1">
                <a:solidFill>
                  <a:srgbClr val="2D2418"/>
                </a:solidFill>
                <a:latin typeface="Segoe UI"/>
              </a:defRPr>
            </a:pPr>
            <a:r>
              <a:t>• 2. Queue Routing</a:t>
            </a:r>
          </a:p>
          <a:p>
            <a:pPr>
              <a:defRPr sz="950">
                <a:solidFill>
                  <a:srgbClr val="6B4F3B"/>
                </a:solidFill>
                <a:latin typeface="Calibri"/>
              </a:defRPr>
            </a:pPr>
            <a:r>
              <a:t>   Ticket routed to SecOps architect queue with violation summary and redaction preview.</a:t>
            </a:r>
          </a:p>
          <a:p>
            <a:pPr>
              <a:defRPr sz="1000" b="1">
                <a:solidFill>
                  <a:srgbClr val="2D2418"/>
                </a:solidFill>
                <a:latin typeface="Segoe UI"/>
              </a:defRPr>
            </a:pPr>
            <a:r>
              <a:t>• 3. Triage &amp; Decision</a:t>
            </a:r>
          </a:p>
          <a:p>
            <a:pPr>
              <a:defRPr sz="950">
                <a:solidFill>
                  <a:srgbClr val="6B4F3B"/>
                </a:solidFill>
                <a:latin typeface="Calibri"/>
              </a:defRPr>
            </a:pPr>
            <a:r>
              <a:t>   Authorized reviewer inspects business justification and clicks Approve or Reject.</a:t>
            </a:r>
          </a:p>
          <a:p>
            <a:pPr>
              <a:defRPr sz="1000" b="1">
                <a:solidFill>
                  <a:srgbClr val="2D2418"/>
                </a:solidFill>
                <a:latin typeface="Segoe UI"/>
              </a:defRPr>
            </a:pPr>
            <a:r>
              <a:t>• 4. Execution &amp; Audit</a:t>
            </a:r>
          </a:p>
          <a:p>
            <a:pPr>
              <a:defRPr sz="950">
                <a:solidFill>
                  <a:srgbClr val="6B4F3B"/>
                </a:solidFill>
                <a:latin typeface="Calibri"/>
              </a:defRPr>
            </a:pPr>
            <a:r>
              <a:t>   Approved queries proceed to LLM; decisions are immutably logged with approver ID.</a:t>
            </a:r>
          </a:p>
        </p:txBody>
      </p:sp>
      <p:sp>
        <p:nvSpPr>
          <p:cNvPr id="7" name="Rounded Rectangle 6"/>
          <p:cNvSpPr/>
          <p:nvPr/>
        </p:nvSpPr>
        <p:spPr>
          <a:xfrm>
            <a:off x="5669280" y="1691640"/>
            <a:ext cx="5790895" cy="4389120"/>
          </a:xfrm>
          <a:prstGeom prst="roundRect">
            <a:avLst/>
          </a:prstGeom>
          <a:solidFill>
            <a:srgbClr val="FFF3E0"/>
          </a:solidFill>
          <a:ln w="15240">
            <a:solidFill>
              <a:srgbClr val="D4B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874520"/>
            <a:ext cx="5425135" cy="4023360"/>
          </a:xfrm>
          <a:prstGeom prst="rect">
            <a:avLst/>
          </a:prstGeom>
          <a:noFill/>
        </p:spPr>
        <p:txBody>
          <a:bodyPr wrap="square" anchor="ctr" lIns="0" tIns="0" rIns="0" bIns="0">
            <a:spAutoFit/>
          </a:bodyPr>
          <a:lstStyle/>
          <a:p>
            <a:pPr algn="ctr">
              <a:spcAft>
                <a:spcPts val="600"/>
              </a:spcAft>
              <a:defRPr sz="1100" b="1">
                <a:solidFill>
                  <a:srgbClr val="D4760A"/>
                </a:solidFill>
                <a:latin typeface="Segoe UI"/>
              </a:defRPr>
            </a:pPr>
            <a:r>
              <a:t>[ APPLICATION SCREENSHOT REQUIRED ]</a:t>
            </a:r>
          </a:p>
          <a:p>
            <a:pPr algn="ctr">
              <a:spcAft>
                <a:spcPts val="800"/>
              </a:spcAft>
              <a:defRPr sz="1300" b="1">
                <a:solidFill>
                  <a:srgbClr val="2D2418"/>
                </a:solidFill>
                <a:latin typeface="Segoe UI"/>
              </a:defRPr>
            </a:pPr>
            <a:r>
              <a:t>SecOps Human Review &amp; Approval Queue</a:t>
            </a:r>
          </a:p>
          <a:p>
            <a:pPr algn="ctr">
              <a:defRPr sz="950">
                <a:solidFill>
                  <a:srgbClr val="6B4F3B"/>
                </a:solidFill>
                <a:latin typeface="Calibri"/>
              </a:defRPr>
            </a:pPr>
            <a:r>
              <a:t>Display Approvals Queue UI showing pending prompt tickets, risk badges, reviewer action buttons (Approve / Reject), and justification notes.</a:t>
            </a:r>
          </a:p>
          <a:p>
            <a:pPr algn="ctr">
              <a:spcBef>
                <a:spcPts val="800"/>
              </a:spcBef>
              <a:defRPr sz="850" i="1">
                <a:solidFill>
                  <a:srgbClr val="9C7D64"/>
                </a:solidFill>
                <a:latin typeface="Calibri"/>
              </a:defRPr>
            </a:pPr>
            <a:r>
              <a:t>Drop / Paste verified application screenshot here (16:9 ratio recommended)</a:t>
            </a:r>
          </a:p>
        </p:txBody>
      </p:sp>
      <p:sp>
        <p:nvSpPr>
          <p:cNvPr id="9" name="Rectangle 8"/>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Demonstrate business enablement: Borderline queries aren't killed; authorized managers can approve legitimate edge-case research.</a:t>
            </a:r>
          </a:p>
        </p:txBody>
      </p:sp>
      <p:sp>
        <p:nvSpPr>
          <p:cNvPr id="11" name="TextBox 10"/>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COMPREHENSIVE ADMINISTRATION</a:t>
            </a:r>
          </a:p>
          <a:p>
            <a:pPr>
              <a:spcAft>
                <a:spcPts val="200"/>
              </a:spcAft>
              <a:defRPr sz="2200" b="1">
                <a:solidFill>
                  <a:srgbClr val="2D2418"/>
                </a:solidFill>
                <a:latin typeface="Segoe UI"/>
              </a:defRPr>
            </a:pPr>
            <a:r>
              <a:t>AI Governance Capabilities: 5 Administrative Pillars</a:t>
            </a:r>
          </a:p>
          <a:p>
            <a:pPr>
              <a:defRPr sz="1100">
                <a:solidFill>
                  <a:srgbClr val="6B4F3B"/>
                </a:solidFill>
                <a:latin typeface="Calibri"/>
              </a:defRPr>
            </a:pPr>
            <a:r>
              <a:t>Granular departmental policy controls and centralized enterprise LLM administration.</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ENTERPRISE SCALE</a:t>
            </a:r>
          </a:p>
        </p:txBody>
      </p:sp>
      <p:sp>
        <p:nvSpPr>
          <p:cNvPr id="5" name="Rounded Rectangle 4"/>
          <p:cNvSpPr/>
          <p:nvPr/>
        </p:nvSpPr>
        <p:spPr>
          <a:xfrm>
            <a:off x="731520" y="1691640"/>
            <a:ext cx="10728655" cy="77724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01368"/>
            <a:ext cx="10180015" cy="557784"/>
          </a:xfrm>
          <a:prstGeom prst="rect">
            <a:avLst/>
          </a:prstGeom>
          <a:noFill/>
        </p:spPr>
        <p:txBody>
          <a:bodyPr wrap="square" lIns="0" tIns="0" rIns="0" bIns="0">
            <a:spAutoFit/>
          </a:bodyPr>
          <a:lstStyle/>
          <a:p>
            <a:pPr>
              <a:defRPr sz="1150" b="1">
                <a:solidFill>
                  <a:srgbClr val="2D2418"/>
                </a:solidFill>
                <a:latin typeface="Segoe UI"/>
              </a:defRPr>
            </a:pPr>
            <a:r>
              <a:t>Policy Management   </a:t>
            </a:r>
          </a:p>
          <a:p>
            <a:pPr>
              <a:defRPr sz="1000">
                <a:solidFill>
                  <a:srgbClr val="6B4F3B"/>
                </a:solidFill>
                <a:latin typeface="Calibri"/>
              </a:defRPr>
            </a:pPr>
            <a:r>
              <a:t>Dynamic creation and live hot-reloading of security guardrail policies, injection thresholds, and compliance rulebooks.</a:t>
            </a:r>
          </a:p>
        </p:txBody>
      </p:sp>
      <p:sp>
        <p:nvSpPr>
          <p:cNvPr id="7" name="Rounded Rectangle 6"/>
          <p:cNvSpPr/>
          <p:nvPr/>
        </p:nvSpPr>
        <p:spPr>
          <a:xfrm>
            <a:off x="731520" y="2578608"/>
            <a:ext cx="10728655" cy="77724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688336"/>
            <a:ext cx="10180015" cy="557784"/>
          </a:xfrm>
          <a:prstGeom prst="rect">
            <a:avLst/>
          </a:prstGeom>
          <a:noFill/>
        </p:spPr>
        <p:txBody>
          <a:bodyPr wrap="square" lIns="0" tIns="0" rIns="0" bIns="0">
            <a:spAutoFit/>
          </a:bodyPr>
          <a:lstStyle/>
          <a:p>
            <a:pPr>
              <a:defRPr sz="1150" b="1">
                <a:solidFill>
                  <a:srgbClr val="2D2418"/>
                </a:solidFill>
                <a:latin typeface="Segoe UI"/>
              </a:defRPr>
            </a:pPr>
            <a:r>
              <a:t>Model Registry   </a:t>
            </a:r>
          </a:p>
          <a:p>
            <a:pPr>
              <a:defRPr sz="1000">
                <a:solidFill>
                  <a:srgbClr val="6B4F3B"/>
                </a:solidFill>
                <a:latin typeface="Calibri"/>
              </a:defRPr>
            </a:pPr>
            <a:r>
              <a:t>Centralized registry cataloging permitted LLM providers, endpoint configurations, context window limits, and pricing.</a:t>
            </a:r>
          </a:p>
        </p:txBody>
      </p:sp>
      <p:sp>
        <p:nvSpPr>
          <p:cNvPr id="9" name="Rounded Rectangle 8"/>
          <p:cNvSpPr/>
          <p:nvPr/>
        </p:nvSpPr>
        <p:spPr>
          <a:xfrm>
            <a:off x="731520" y="3465576"/>
            <a:ext cx="10728655" cy="77724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575304"/>
            <a:ext cx="10180015" cy="557784"/>
          </a:xfrm>
          <a:prstGeom prst="rect">
            <a:avLst/>
          </a:prstGeom>
          <a:noFill/>
        </p:spPr>
        <p:txBody>
          <a:bodyPr wrap="square" lIns="0" tIns="0" rIns="0" bIns="0">
            <a:spAutoFit/>
          </a:bodyPr>
          <a:lstStyle/>
          <a:p>
            <a:pPr>
              <a:defRPr sz="1150" b="1">
                <a:solidFill>
                  <a:srgbClr val="2D2418"/>
                </a:solidFill>
                <a:latin typeface="Segoe UI"/>
              </a:defRPr>
            </a:pPr>
            <a:r>
              <a:t>Prompt Templates   </a:t>
            </a:r>
          </a:p>
          <a:p>
            <a:pPr>
              <a:defRPr sz="1000">
                <a:solidFill>
                  <a:srgbClr val="6B4F3B"/>
                </a:solidFill>
                <a:latin typeface="Calibri"/>
              </a:defRPr>
            </a:pPr>
            <a:r>
              <a:t>Enterprise-approved system prompts and sanitized template catalog ensuring consistency and prompt hardening.</a:t>
            </a:r>
          </a:p>
        </p:txBody>
      </p:sp>
      <p:sp>
        <p:nvSpPr>
          <p:cNvPr id="11" name="Rounded Rectangle 10"/>
          <p:cNvSpPr/>
          <p:nvPr/>
        </p:nvSpPr>
        <p:spPr>
          <a:xfrm>
            <a:off x="731520" y="4352544"/>
            <a:ext cx="10728655" cy="77724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462272"/>
            <a:ext cx="10180015" cy="557784"/>
          </a:xfrm>
          <a:prstGeom prst="rect">
            <a:avLst/>
          </a:prstGeom>
          <a:noFill/>
        </p:spPr>
        <p:txBody>
          <a:bodyPr wrap="square" lIns="0" tIns="0" rIns="0" bIns="0">
            <a:spAutoFit/>
          </a:bodyPr>
          <a:lstStyle/>
          <a:p>
            <a:pPr>
              <a:defRPr sz="1150" b="1">
                <a:solidFill>
                  <a:srgbClr val="2D2418"/>
                </a:solidFill>
                <a:latin typeface="Segoe UI"/>
              </a:defRPr>
            </a:pPr>
            <a:r>
              <a:t>Department Governance   </a:t>
            </a:r>
          </a:p>
          <a:p>
            <a:pPr>
              <a:defRPr sz="1000">
                <a:solidFill>
                  <a:srgbClr val="6B4F3B"/>
                </a:solidFill>
                <a:latin typeface="Calibri"/>
              </a:defRPr>
            </a:pPr>
            <a:r>
              <a:t>Per-department token quotas, monthly financial budgets, role clearances, and permitted model restrictions.</a:t>
            </a:r>
          </a:p>
        </p:txBody>
      </p:sp>
      <p:sp>
        <p:nvSpPr>
          <p:cNvPr id="13" name="Rounded Rectangle 12"/>
          <p:cNvSpPr/>
          <p:nvPr/>
        </p:nvSpPr>
        <p:spPr>
          <a:xfrm>
            <a:off x="731520" y="5239512"/>
            <a:ext cx="10728655" cy="77724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10180015" cy="557784"/>
          </a:xfrm>
          <a:prstGeom prst="rect">
            <a:avLst/>
          </a:prstGeom>
          <a:noFill/>
        </p:spPr>
        <p:txBody>
          <a:bodyPr wrap="square" lIns="0" tIns="0" rIns="0" bIns="0">
            <a:spAutoFit/>
          </a:bodyPr>
          <a:lstStyle/>
          <a:p>
            <a:pPr>
              <a:defRPr sz="1150" b="1">
                <a:solidFill>
                  <a:srgbClr val="2D2418"/>
                </a:solidFill>
                <a:latin typeface="Segoe UI"/>
              </a:defRPr>
            </a:pPr>
            <a:r>
              <a:t>Approval Rules Matrix   </a:t>
            </a:r>
          </a:p>
          <a:p>
            <a:pPr>
              <a:defRPr sz="1000">
                <a:solidFill>
                  <a:srgbClr val="6B4F3B"/>
                </a:solidFill>
                <a:latin typeface="Calibri"/>
              </a:defRPr>
            </a:pPr>
            <a:r>
              <a:t>Configurable multi-tier escalation logic routing high-risk prompts to designated department compliance leads.</a:t>
            </a:r>
          </a:p>
        </p:txBody>
      </p:sp>
      <p:sp>
        <p:nvSpPr>
          <p:cNvPr id="15" name="Rectangle 14"/>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Emphasize: Department Governance allows Knox Part, R&amp;D, and HR to maintain different security strictness without code changes.</a:t>
            </a:r>
          </a:p>
        </p:txBody>
      </p:sp>
      <p:sp>
        <p:nvSpPr>
          <p:cNvPr id="17" name="TextBox 16"/>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FULL-STACK RELIABILITY</a:t>
            </a:r>
          </a:p>
          <a:p>
            <a:pPr>
              <a:spcAft>
                <a:spcPts val="200"/>
              </a:spcAft>
              <a:defRPr sz="2200" b="1">
                <a:solidFill>
                  <a:srgbClr val="2D2418"/>
                </a:solidFill>
                <a:latin typeface="Segoe UI"/>
              </a:defRPr>
            </a:pPr>
            <a:r>
              <a:t>Enterprise Observability: Telemetry, Tracing &amp; Probes</a:t>
            </a:r>
          </a:p>
          <a:p>
            <a:pPr>
              <a:defRPr sz="1100">
                <a:solidFill>
                  <a:srgbClr val="6B4F3B"/>
                </a:solidFill>
                <a:latin typeface="Calibri"/>
              </a:defRPr>
            </a:pPr>
            <a:r>
              <a:t>Continuous health evaluation and distributed tracing across every microservice hop.</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99.99% UPTIME DESIGN</a:t>
            </a:r>
          </a:p>
        </p:txBody>
      </p:sp>
      <p:sp>
        <p:nvSpPr>
          <p:cNvPr id="5" name="Rounded Rectangle 4"/>
          <p:cNvSpPr/>
          <p:nvPr/>
        </p:nvSpPr>
        <p:spPr>
          <a:xfrm>
            <a:off x="731520" y="1691640"/>
            <a:ext cx="201168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920240"/>
            <a:ext cx="1682496" cy="3931920"/>
          </a:xfrm>
          <a:prstGeom prst="rect">
            <a:avLst/>
          </a:prstGeom>
          <a:noFill/>
        </p:spPr>
        <p:txBody>
          <a:bodyPr wrap="square" lIns="0" tIns="0" rIns="0" bIns="0">
            <a:spAutoFit/>
          </a:bodyPr>
          <a:lstStyle/>
          <a:p>
            <a:pPr algn="ctr">
              <a:spcAft>
                <a:spcPts val="1200"/>
              </a:spcAft>
              <a:defRPr sz="2800"/>
            </a:pPr>
            <a:r>
              <a:t>📊</a:t>
            </a:r>
          </a:p>
          <a:p>
            <a:pPr algn="ctr">
              <a:spcAft>
                <a:spcPts val="1200"/>
              </a:spcAft>
              <a:defRPr sz="1200" b="1">
                <a:solidFill>
                  <a:srgbClr val="2D2418"/>
                </a:solidFill>
                <a:latin typeface="Segoe UI"/>
              </a:defRPr>
            </a:pPr>
            <a:r>
              <a:t>Real-Time Metrics</a:t>
            </a:r>
          </a:p>
          <a:p>
            <a:pPr>
              <a:defRPr sz="1000">
                <a:solidFill>
                  <a:srgbClr val="6B4F3B"/>
                </a:solidFill>
                <a:latin typeface="Calibri"/>
              </a:defRPr>
            </a:pPr>
            <a:r>
              <a:t>Prometheus-compatible instrumentation capturing requests/sec, error rates, p95/p99 latency, and token consumption rates.</a:t>
            </a:r>
          </a:p>
        </p:txBody>
      </p:sp>
      <p:sp>
        <p:nvSpPr>
          <p:cNvPr id="7" name="Rounded Rectangle 6"/>
          <p:cNvSpPr/>
          <p:nvPr/>
        </p:nvSpPr>
        <p:spPr>
          <a:xfrm>
            <a:off x="2907792" y="1691640"/>
            <a:ext cx="201168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72384" y="1920240"/>
            <a:ext cx="1682496" cy="3931920"/>
          </a:xfrm>
          <a:prstGeom prst="rect">
            <a:avLst/>
          </a:prstGeom>
          <a:noFill/>
        </p:spPr>
        <p:txBody>
          <a:bodyPr wrap="square" lIns="0" tIns="0" rIns="0" bIns="0">
            <a:spAutoFit/>
          </a:bodyPr>
          <a:lstStyle/>
          <a:p>
            <a:pPr algn="ctr">
              <a:spcAft>
                <a:spcPts val="1200"/>
              </a:spcAft>
              <a:defRPr sz="2800"/>
            </a:pPr>
            <a:r>
              <a:t>🔍</a:t>
            </a:r>
          </a:p>
          <a:p>
            <a:pPr algn="ctr">
              <a:spcAft>
                <a:spcPts val="1200"/>
              </a:spcAft>
              <a:defRPr sz="1200" b="1">
                <a:solidFill>
                  <a:srgbClr val="2D2418"/>
                </a:solidFill>
                <a:latin typeface="Segoe UI"/>
              </a:defRPr>
            </a:pPr>
            <a:r>
              <a:t>Distributed Tracing</a:t>
            </a:r>
          </a:p>
          <a:p>
            <a:pPr>
              <a:defRPr sz="1000">
                <a:solidFill>
                  <a:srgbClr val="6B4F3B"/>
                </a:solidFill>
                <a:latin typeface="Calibri"/>
              </a:defRPr>
            </a:pPr>
            <a:r>
              <a:t>Microsecond-accurate 9-stage pipeline tracing diagnosing processing overhead, detector latency, and network hops.</a:t>
            </a:r>
          </a:p>
        </p:txBody>
      </p:sp>
      <p:sp>
        <p:nvSpPr>
          <p:cNvPr id="9" name="Rounded Rectangle 8"/>
          <p:cNvSpPr/>
          <p:nvPr/>
        </p:nvSpPr>
        <p:spPr>
          <a:xfrm>
            <a:off x="5084064" y="1691640"/>
            <a:ext cx="201168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48656" y="1920240"/>
            <a:ext cx="1682496" cy="3931920"/>
          </a:xfrm>
          <a:prstGeom prst="rect">
            <a:avLst/>
          </a:prstGeom>
          <a:noFill/>
        </p:spPr>
        <p:txBody>
          <a:bodyPr wrap="square" lIns="0" tIns="0" rIns="0" bIns="0">
            <a:spAutoFit/>
          </a:bodyPr>
          <a:lstStyle/>
          <a:p>
            <a:pPr algn="ctr">
              <a:spcAft>
                <a:spcPts val="1200"/>
              </a:spcAft>
              <a:defRPr sz="2800"/>
            </a:pPr>
            <a:r>
              <a:t>💰</a:t>
            </a:r>
          </a:p>
          <a:p>
            <a:pPr algn="ctr">
              <a:spcAft>
                <a:spcPts val="1200"/>
              </a:spcAft>
              <a:defRPr sz="1200" b="1">
                <a:solidFill>
                  <a:srgbClr val="2D2418"/>
                </a:solidFill>
                <a:latin typeface="Segoe UI"/>
              </a:defRPr>
            </a:pPr>
            <a:r>
              <a:t>Cost Analytics</a:t>
            </a:r>
          </a:p>
          <a:p>
            <a:pPr>
              <a:defRPr sz="1000">
                <a:solidFill>
                  <a:srgbClr val="6B4F3B"/>
                </a:solidFill>
                <a:latin typeface="Calibri"/>
              </a:defRPr>
            </a:pPr>
            <a:r>
              <a:t>Fine-grained expenditure attribution mapping every dollar spent back to specific models, users, and departments.</a:t>
            </a:r>
          </a:p>
        </p:txBody>
      </p:sp>
      <p:sp>
        <p:nvSpPr>
          <p:cNvPr id="11" name="Rounded Rectangle 10"/>
          <p:cNvSpPr/>
          <p:nvPr/>
        </p:nvSpPr>
        <p:spPr>
          <a:xfrm>
            <a:off x="7260336" y="1691640"/>
            <a:ext cx="201168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24928" y="1920240"/>
            <a:ext cx="1682496" cy="3931920"/>
          </a:xfrm>
          <a:prstGeom prst="rect">
            <a:avLst/>
          </a:prstGeom>
          <a:noFill/>
        </p:spPr>
        <p:txBody>
          <a:bodyPr wrap="square" lIns="0" tIns="0" rIns="0" bIns="0">
            <a:spAutoFit/>
          </a:bodyPr>
          <a:lstStyle/>
          <a:p>
            <a:pPr algn="ctr">
              <a:spcAft>
                <a:spcPts val="1200"/>
              </a:spcAft>
              <a:defRPr sz="2800"/>
            </a:pPr>
            <a:r>
              <a:t>📈</a:t>
            </a:r>
          </a:p>
          <a:p>
            <a:pPr algn="ctr">
              <a:spcAft>
                <a:spcPts val="1200"/>
              </a:spcAft>
              <a:defRPr sz="1200" b="1">
                <a:solidFill>
                  <a:srgbClr val="2D2418"/>
                </a:solidFill>
                <a:latin typeface="Segoe UI"/>
              </a:defRPr>
            </a:pPr>
            <a:r>
              <a:t>Risk Analytics</a:t>
            </a:r>
          </a:p>
          <a:p>
            <a:pPr>
              <a:defRPr sz="1000">
                <a:solidFill>
                  <a:srgbClr val="6B4F3B"/>
                </a:solidFill>
                <a:latin typeface="Calibri"/>
              </a:defRPr>
            </a:pPr>
            <a:r>
              <a:t>Trend analysis tracking organizational threat vectors over time, top violation types, and department risk distributions.</a:t>
            </a:r>
          </a:p>
        </p:txBody>
      </p:sp>
      <p:sp>
        <p:nvSpPr>
          <p:cNvPr id="13" name="Rounded Rectangle 12"/>
          <p:cNvSpPr/>
          <p:nvPr/>
        </p:nvSpPr>
        <p:spPr>
          <a:xfrm>
            <a:off x="9436608" y="1691640"/>
            <a:ext cx="201168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0" y="1920240"/>
            <a:ext cx="1682496" cy="3931920"/>
          </a:xfrm>
          <a:prstGeom prst="rect">
            <a:avLst/>
          </a:prstGeom>
          <a:noFill/>
        </p:spPr>
        <p:txBody>
          <a:bodyPr wrap="square" lIns="0" tIns="0" rIns="0" bIns="0">
            <a:spAutoFit/>
          </a:bodyPr>
          <a:lstStyle/>
          <a:p>
            <a:pPr algn="ctr">
              <a:spcAft>
                <a:spcPts val="1200"/>
              </a:spcAft>
              <a:defRPr sz="2800"/>
            </a:pPr>
            <a:r>
              <a:t>💓</a:t>
            </a:r>
          </a:p>
          <a:p>
            <a:pPr algn="ctr">
              <a:spcAft>
                <a:spcPts val="1200"/>
              </a:spcAft>
              <a:defRPr sz="1200" b="1">
                <a:solidFill>
                  <a:srgbClr val="2D2418"/>
                </a:solidFill>
                <a:latin typeface="Segoe UI"/>
              </a:defRPr>
            </a:pPr>
            <a:r>
              <a:t>Service Health Probes</a:t>
            </a:r>
          </a:p>
          <a:p>
            <a:pPr>
              <a:defRPr sz="1000">
                <a:solidFill>
                  <a:srgbClr val="6B4F3B"/>
                </a:solidFill>
                <a:latin typeface="Calibri"/>
              </a:defRPr>
            </a:pPr>
            <a:r>
              <a:t>Continuous liveness and readiness monitoring across all 5 backend microservices with automatic failure alerts.</a:t>
            </a:r>
          </a:p>
        </p:txBody>
      </p:sp>
      <p:sp>
        <p:nvSpPr>
          <p:cNvPr id="15" name="Rectangle 14"/>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Highlight: If an upstream model is slow, the distributed trace proves whether the delay is in the security scanner (&lt;15ms) or external API.</a:t>
            </a:r>
          </a:p>
        </p:txBody>
      </p:sp>
      <p:sp>
        <p:nvSpPr>
          <p:cNvPr id="17" name="TextBox 16"/>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QUANTIFIED VALUE CREATION</a:t>
            </a:r>
          </a:p>
          <a:p>
            <a:pPr>
              <a:spcAft>
                <a:spcPts val="200"/>
              </a:spcAft>
              <a:defRPr sz="2200" b="1">
                <a:solidFill>
                  <a:srgbClr val="2D2418"/>
                </a:solidFill>
                <a:latin typeface="Segoe UI"/>
              </a:defRPr>
            </a:pPr>
            <a:r>
              <a:t>Tangible Business Impact: Security, Cost &amp; Speed</a:t>
            </a:r>
          </a:p>
          <a:p>
            <a:pPr>
              <a:defRPr sz="1100">
                <a:solidFill>
                  <a:srgbClr val="6B4F3B"/>
                </a:solidFill>
                <a:latin typeface="Calibri"/>
              </a:defRPr>
            </a:pPr>
            <a:r>
              <a:t>Unlocking enterprise-wide generative AI adoption with proven ROI across four dimensions.</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HIGH ROI ACCELERATOR</a:t>
            </a:r>
          </a:p>
        </p:txBody>
      </p:sp>
      <p:sp>
        <p:nvSpPr>
          <p:cNvPr id="5" name="Rounded Rectangle 4"/>
          <p:cNvSpPr/>
          <p:nvPr/>
        </p:nvSpPr>
        <p:spPr>
          <a:xfrm>
            <a:off x="731520" y="1691640"/>
            <a:ext cx="5212080" cy="2103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74520"/>
            <a:ext cx="4663440" cy="1737360"/>
          </a:xfrm>
          <a:prstGeom prst="rect">
            <a:avLst/>
          </a:prstGeom>
          <a:noFill/>
        </p:spPr>
        <p:txBody>
          <a:bodyPr wrap="square" lIns="0" tIns="0" rIns="0" bIns="0">
            <a:spAutoFit/>
          </a:bodyPr>
          <a:lstStyle/>
          <a:p>
            <a:pPr>
              <a:spcAft>
                <a:spcPts val="200"/>
              </a:spcAft>
              <a:defRPr sz="1300" b="1">
                <a:solidFill>
                  <a:srgbClr val="C62828"/>
                </a:solidFill>
                <a:latin typeface="Segoe UI"/>
              </a:defRPr>
            </a:pPr>
            <a:r>
              <a:t>Security &amp; IP Defense</a:t>
            </a:r>
          </a:p>
          <a:p>
            <a:pPr>
              <a:spcAft>
                <a:spcPts val="600"/>
              </a:spcAft>
              <a:defRPr sz="1050" b="1">
                <a:solidFill>
                  <a:srgbClr val="2D2418"/>
                </a:solidFill>
                <a:latin typeface="Segoe UI"/>
              </a:defRPr>
            </a:pPr>
            <a:r>
              <a:t>100% Prevention of Critical IP Leaks</a:t>
            </a:r>
          </a:p>
          <a:p>
            <a:pPr>
              <a:defRPr sz="1000">
                <a:solidFill>
                  <a:srgbClr val="6B4F3B"/>
                </a:solidFill>
                <a:latin typeface="Calibri"/>
              </a:defRPr>
            </a:pPr>
            <a:r>
              <a:t>Guarantees zero accidental exfiltration of proprietary source code, secrets, or confidential documents. Completely neutralizes adversarial prompt injection exploits before model ingestion.</a:t>
            </a:r>
          </a:p>
        </p:txBody>
      </p:sp>
      <p:sp>
        <p:nvSpPr>
          <p:cNvPr id="7" name="Rounded Rectangle 6"/>
          <p:cNvSpPr/>
          <p:nvPr/>
        </p:nvSpPr>
        <p:spPr>
          <a:xfrm>
            <a:off x="6248095" y="1691640"/>
            <a:ext cx="5212080" cy="2103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22415" y="1874520"/>
            <a:ext cx="4663440" cy="1737360"/>
          </a:xfrm>
          <a:prstGeom prst="rect">
            <a:avLst/>
          </a:prstGeom>
          <a:noFill/>
        </p:spPr>
        <p:txBody>
          <a:bodyPr wrap="square" lIns="0" tIns="0" rIns="0" bIns="0">
            <a:spAutoFit/>
          </a:bodyPr>
          <a:lstStyle/>
          <a:p>
            <a:pPr>
              <a:spcAft>
                <a:spcPts val="200"/>
              </a:spcAft>
              <a:defRPr sz="1300" b="1">
                <a:solidFill>
                  <a:srgbClr val="D4760A"/>
                </a:solidFill>
                <a:latin typeface="Segoe UI"/>
              </a:defRPr>
            </a:pPr>
            <a:r>
              <a:t>Regulatory Compliance</a:t>
            </a:r>
          </a:p>
          <a:p>
            <a:pPr>
              <a:spcAft>
                <a:spcPts val="600"/>
              </a:spcAft>
              <a:defRPr sz="1050" b="1">
                <a:solidFill>
                  <a:srgbClr val="2D2418"/>
                </a:solidFill>
                <a:latin typeface="Segoe UI"/>
              </a:defRPr>
            </a:pPr>
            <a:r>
              <a:t>Audit-Ready in Under 5 Minutes</a:t>
            </a:r>
          </a:p>
          <a:p>
            <a:pPr>
              <a:defRPr sz="1000">
                <a:solidFill>
                  <a:srgbClr val="6B4F3B"/>
                </a:solidFill>
                <a:latin typeface="Calibri"/>
              </a:defRPr>
            </a:pPr>
            <a:r>
              <a:t>Continuous automated compliance with NIST AI RMF, ISO/IEC 42001, and OWASP Top 10 for LLMs. Generates tamper-proof audit trails for internal &amp; external regulators with zero manual gathering.</a:t>
            </a:r>
          </a:p>
        </p:txBody>
      </p:sp>
      <p:sp>
        <p:nvSpPr>
          <p:cNvPr id="9" name="Rounded Rectangle 8"/>
          <p:cNvSpPr/>
          <p:nvPr/>
        </p:nvSpPr>
        <p:spPr>
          <a:xfrm>
            <a:off x="731520" y="3977640"/>
            <a:ext cx="5212080" cy="2103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160520"/>
            <a:ext cx="4663440" cy="1737360"/>
          </a:xfrm>
          <a:prstGeom prst="rect">
            <a:avLst/>
          </a:prstGeom>
          <a:noFill/>
        </p:spPr>
        <p:txBody>
          <a:bodyPr wrap="square" lIns="0" tIns="0" rIns="0" bIns="0">
            <a:spAutoFit/>
          </a:bodyPr>
          <a:lstStyle/>
          <a:p>
            <a:pPr>
              <a:spcAft>
                <a:spcPts val="200"/>
              </a:spcAft>
              <a:defRPr sz="1300" b="1">
                <a:solidFill>
                  <a:srgbClr val="A16207"/>
                </a:solidFill>
                <a:latin typeface="Segoe UI"/>
              </a:defRPr>
            </a:pPr>
            <a:r>
              <a:t>Financial Cost Control</a:t>
            </a:r>
          </a:p>
          <a:p>
            <a:pPr>
              <a:spcAft>
                <a:spcPts val="600"/>
              </a:spcAft>
              <a:defRPr sz="1050" b="1">
                <a:solidFill>
                  <a:srgbClr val="2D2418"/>
                </a:solidFill>
                <a:latin typeface="Segoe UI"/>
              </a:defRPr>
            </a:pPr>
            <a:r>
              <a:t>30-40% Reduction in Runaway AI Bills</a:t>
            </a:r>
          </a:p>
          <a:p>
            <a:pPr>
              <a:defRPr sz="1000">
                <a:solidFill>
                  <a:srgbClr val="6B4F3B"/>
                </a:solidFill>
                <a:latin typeface="Calibri"/>
              </a:defRPr>
            </a:pPr>
            <a:r>
              <a:t>Eliminates surprise cloud billing through department-level rate limits, token quotas, and intelligent model routing (e.g. routing simple queries to efficient models instead of expensive frontier models).</a:t>
            </a:r>
          </a:p>
        </p:txBody>
      </p:sp>
      <p:sp>
        <p:nvSpPr>
          <p:cNvPr id="11" name="Rounded Rectangle 10"/>
          <p:cNvSpPr/>
          <p:nvPr/>
        </p:nvSpPr>
        <p:spPr>
          <a:xfrm>
            <a:off x="6248095" y="3977640"/>
            <a:ext cx="5212080" cy="2103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2415" y="4160520"/>
            <a:ext cx="4663440" cy="1737360"/>
          </a:xfrm>
          <a:prstGeom prst="rect">
            <a:avLst/>
          </a:prstGeom>
          <a:noFill/>
        </p:spPr>
        <p:txBody>
          <a:bodyPr wrap="square" lIns="0" tIns="0" rIns="0" bIns="0">
            <a:spAutoFit/>
          </a:bodyPr>
          <a:lstStyle/>
          <a:p>
            <a:pPr>
              <a:spcAft>
                <a:spcPts val="200"/>
              </a:spcAft>
              <a:defRPr sz="1300" b="1">
                <a:solidFill>
                  <a:srgbClr val="2E7D32"/>
                </a:solidFill>
                <a:latin typeface="Segoe UI"/>
              </a:defRPr>
            </a:pPr>
            <a:r>
              <a:t>Safe &amp; Accelerated Adoption</a:t>
            </a:r>
          </a:p>
          <a:p>
            <a:pPr>
              <a:spcAft>
                <a:spcPts val="600"/>
              </a:spcAft>
              <a:defRPr sz="1050" b="1">
                <a:solidFill>
                  <a:srgbClr val="2D2418"/>
                </a:solidFill>
                <a:latin typeface="Segoe UI"/>
              </a:defRPr>
            </a:pPr>
            <a:r>
              <a:t>Frictionless AI Innovation</a:t>
            </a:r>
          </a:p>
          <a:p>
            <a:pPr>
              <a:defRPr sz="1000">
                <a:solidFill>
                  <a:srgbClr val="6B4F3B"/>
                </a:solidFill>
                <a:latin typeface="Calibri"/>
              </a:defRPr>
            </a:pPr>
            <a:r>
              <a:t>Unlocks enterprise-wide AI productivity by providing security and compliance leadership the confidence to enable frontier models across all departments without bureaucratic delays.</a:t>
            </a:r>
          </a:p>
        </p:txBody>
      </p:sp>
      <p:sp>
        <p:nvSpPr>
          <p:cNvPr id="13" name="Rectangle 12"/>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Pitch Focus: This is the core slide for business executives. It proves Guardian is a business enabler, not an IT bottleneck.</a:t>
            </a:r>
          </a:p>
        </p:txBody>
      </p:sp>
      <p:sp>
        <p:nvSpPr>
          <p:cNvPr id="15" name="TextBox 14"/>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ENGINEERING EXCELLENCE</a:t>
            </a:r>
          </a:p>
          <a:p>
            <a:pPr>
              <a:spcAft>
                <a:spcPts val="200"/>
              </a:spcAft>
              <a:defRPr sz="2200" b="1">
                <a:solidFill>
                  <a:srgbClr val="2D2418"/>
                </a:solidFill>
                <a:latin typeface="Segoe UI"/>
              </a:defRPr>
            </a:pPr>
            <a:r>
              <a:t>Modern Technology Stack: Lightweight &amp; Scalable</a:t>
            </a:r>
          </a:p>
          <a:p>
            <a:pPr>
              <a:defRPr sz="1100">
                <a:solidFill>
                  <a:srgbClr val="6B4F3B"/>
                </a:solidFill>
                <a:latin typeface="Calibri"/>
              </a:defRPr>
            </a:pPr>
            <a:r>
              <a:t>Pure Java 17 + Spring Boot 3.3 reactive stack engineered for low latency and zero deployment friction.</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JAVA 17 + REACT 18</a:t>
            </a:r>
          </a:p>
        </p:txBody>
      </p:sp>
      <p:sp>
        <p:nvSpPr>
          <p:cNvPr id="5" name="Rounded Rectangle 4"/>
          <p:cNvSpPr/>
          <p:nvPr/>
        </p:nvSpPr>
        <p:spPr>
          <a:xfrm>
            <a:off x="731520" y="1691640"/>
            <a:ext cx="201168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920240"/>
            <a:ext cx="1682496" cy="3931920"/>
          </a:xfrm>
          <a:prstGeom prst="rect">
            <a:avLst/>
          </a:prstGeom>
          <a:noFill/>
        </p:spPr>
        <p:txBody>
          <a:bodyPr wrap="square" lIns="0" tIns="0" rIns="0" bIns="0">
            <a:spAutoFit/>
          </a:bodyPr>
          <a:lstStyle/>
          <a:p>
            <a:pPr algn="ctr">
              <a:spcAft>
                <a:spcPts val="1200"/>
              </a:spcAft>
              <a:defRPr sz="2800"/>
            </a:pPr>
            <a:r>
              <a:t>☕</a:t>
            </a:r>
          </a:p>
          <a:p>
            <a:pPr algn="ctr">
              <a:spcAft>
                <a:spcPts val="1400"/>
              </a:spcAft>
              <a:defRPr sz="1200" b="1">
                <a:solidFill>
                  <a:srgbClr val="2D2418"/>
                </a:solidFill>
                <a:latin typeface="Segoe UI"/>
              </a:defRPr>
            </a:pPr>
            <a:r>
              <a:t>Backend Core</a:t>
            </a:r>
          </a:p>
          <a:p>
            <a:pPr algn="ctr">
              <a:defRPr sz="950">
                <a:solidFill>
                  <a:srgbClr val="6B4F3B"/>
                </a:solidFill>
                <a:latin typeface="Consolas"/>
              </a:defRPr>
            </a:pPr>
            <a:r>
              <a:t>Java 17 LTS</a:t>
            </a:r>
            <a:br/>
            <a:r>
              <a:t>Spring Boot 3.3.5</a:t>
            </a:r>
            <a:br/>
            <a:r>
              <a:t>Spring WebFlux (Reactive)</a:t>
            </a:r>
            <a:br/>
            <a:r>
              <a:t>Hexagonal Architecture</a:t>
            </a:r>
          </a:p>
        </p:txBody>
      </p:sp>
      <p:sp>
        <p:nvSpPr>
          <p:cNvPr id="7" name="Rounded Rectangle 6"/>
          <p:cNvSpPr/>
          <p:nvPr/>
        </p:nvSpPr>
        <p:spPr>
          <a:xfrm>
            <a:off x="2907792" y="1691640"/>
            <a:ext cx="201168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72384" y="1920240"/>
            <a:ext cx="1682496" cy="3931920"/>
          </a:xfrm>
          <a:prstGeom prst="rect">
            <a:avLst/>
          </a:prstGeom>
          <a:noFill/>
        </p:spPr>
        <p:txBody>
          <a:bodyPr wrap="square" lIns="0" tIns="0" rIns="0" bIns="0">
            <a:spAutoFit/>
          </a:bodyPr>
          <a:lstStyle/>
          <a:p>
            <a:pPr algn="ctr">
              <a:spcAft>
                <a:spcPts val="1200"/>
              </a:spcAft>
              <a:defRPr sz="2800"/>
            </a:pPr>
            <a:r>
              <a:t>📨</a:t>
            </a:r>
          </a:p>
          <a:p>
            <a:pPr algn="ctr">
              <a:spcAft>
                <a:spcPts val="1400"/>
              </a:spcAft>
              <a:defRPr sz="1200" b="1">
                <a:solidFill>
                  <a:srgbClr val="2D2418"/>
                </a:solidFill>
                <a:latin typeface="Segoe UI"/>
              </a:defRPr>
            </a:pPr>
            <a:r>
              <a:t>Event Streaming</a:t>
            </a:r>
          </a:p>
          <a:p>
            <a:pPr algn="ctr">
              <a:defRPr sz="950">
                <a:solidFill>
                  <a:srgbClr val="6B4F3B"/>
                </a:solidFill>
                <a:latin typeface="Consolas"/>
              </a:defRPr>
            </a:pPr>
            <a:r>
              <a:t>Apache Kafka</a:t>
            </a:r>
            <a:br/>
            <a:r>
              <a:t>Spring Kafka Streams</a:t>
            </a:r>
            <a:br/>
            <a:r>
              <a:t>Distributed Audit Topics</a:t>
            </a:r>
            <a:br/>
            <a:r>
              <a:t>Dead Letter Queues</a:t>
            </a:r>
          </a:p>
        </p:txBody>
      </p:sp>
      <p:sp>
        <p:nvSpPr>
          <p:cNvPr id="9" name="Rounded Rectangle 8"/>
          <p:cNvSpPr/>
          <p:nvPr/>
        </p:nvSpPr>
        <p:spPr>
          <a:xfrm>
            <a:off x="5084064" y="1691640"/>
            <a:ext cx="201168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48656" y="1920240"/>
            <a:ext cx="1682496" cy="3931920"/>
          </a:xfrm>
          <a:prstGeom prst="rect">
            <a:avLst/>
          </a:prstGeom>
          <a:noFill/>
        </p:spPr>
        <p:txBody>
          <a:bodyPr wrap="square" lIns="0" tIns="0" rIns="0" bIns="0">
            <a:spAutoFit/>
          </a:bodyPr>
          <a:lstStyle/>
          <a:p>
            <a:pPr algn="ctr">
              <a:spcAft>
                <a:spcPts val="1200"/>
              </a:spcAft>
              <a:defRPr sz="2800"/>
            </a:pPr>
            <a:r>
              <a:t>💾</a:t>
            </a:r>
          </a:p>
          <a:p>
            <a:pPr algn="ctr">
              <a:spcAft>
                <a:spcPts val="1400"/>
              </a:spcAft>
              <a:defRPr sz="1200" b="1">
                <a:solidFill>
                  <a:srgbClr val="2D2418"/>
                </a:solidFill>
                <a:latin typeface="Segoe UI"/>
              </a:defRPr>
            </a:pPr>
            <a:r>
              <a:t>Data Persistence</a:t>
            </a:r>
          </a:p>
          <a:p>
            <a:pPr algn="ctr">
              <a:defRPr sz="950">
                <a:solidFill>
                  <a:srgbClr val="6B4F3B"/>
                </a:solidFill>
                <a:latin typeface="Consolas"/>
              </a:defRPr>
            </a:pPr>
            <a:r>
              <a:t>PostgreSQL (Enterprise)</a:t>
            </a:r>
            <a:br/>
            <a:r>
              <a:t>H2 Embedded (Zero-Config)</a:t>
            </a:r>
            <a:br/>
            <a:r>
              <a:t>Spring Data JPA</a:t>
            </a:r>
            <a:br/>
            <a:r>
              <a:t>Flyway Schema Migrations</a:t>
            </a:r>
          </a:p>
        </p:txBody>
      </p:sp>
      <p:sp>
        <p:nvSpPr>
          <p:cNvPr id="11" name="Rounded Rectangle 10"/>
          <p:cNvSpPr/>
          <p:nvPr/>
        </p:nvSpPr>
        <p:spPr>
          <a:xfrm>
            <a:off x="7260336" y="1691640"/>
            <a:ext cx="201168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24928" y="1920240"/>
            <a:ext cx="1682496" cy="3931920"/>
          </a:xfrm>
          <a:prstGeom prst="rect">
            <a:avLst/>
          </a:prstGeom>
          <a:noFill/>
        </p:spPr>
        <p:txBody>
          <a:bodyPr wrap="square" lIns="0" tIns="0" rIns="0" bIns="0">
            <a:spAutoFit/>
          </a:bodyPr>
          <a:lstStyle/>
          <a:p>
            <a:pPr algn="ctr">
              <a:spcAft>
                <a:spcPts val="1200"/>
              </a:spcAft>
              <a:defRPr sz="2800"/>
            </a:pPr>
            <a:r>
              <a:t>⚛️</a:t>
            </a:r>
          </a:p>
          <a:p>
            <a:pPr algn="ctr">
              <a:spcAft>
                <a:spcPts val="1400"/>
              </a:spcAft>
              <a:defRPr sz="1200" b="1">
                <a:solidFill>
                  <a:srgbClr val="2D2418"/>
                </a:solidFill>
                <a:latin typeface="Segoe UI"/>
              </a:defRPr>
            </a:pPr>
            <a:r>
              <a:t>Frontend Dashboard</a:t>
            </a:r>
          </a:p>
          <a:p>
            <a:pPr algn="ctr">
              <a:defRPr sz="950">
                <a:solidFill>
                  <a:srgbClr val="6B4F3B"/>
                </a:solidFill>
                <a:latin typeface="Consolas"/>
              </a:defRPr>
            </a:pPr>
            <a:r>
              <a:t>React 18 SPA</a:t>
            </a:r>
            <a:br/>
            <a:r>
              <a:t>Vite Fast Bundler</a:t>
            </a:r>
            <a:br/>
            <a:r>
              <a:t>Vanilla CSS Design System</a:t>
            </a:r>
            <a:br/>
            <a:r>
              <a:t>Recharts Telemetry</a:t>
            </a:r>
          </a:p>
        </p:txBody>
      </p:sp>
      <p:sp>
        <p:nvSpPr>
          <p:cNvPr id="13" name="Rounded Rectangle 12"/>
          <p:cNvSpPr/>
          <p:nvPr/>
        </p:nvSpPr>
        <p:spPr>
          <a:xfrm>
            <a:off x="9436608" y="1691640"/>
            <a:ext cx="2011680"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0" y="1920240"/>
            <a:ext cx="1682496" cy="3931920"/>
          </a:xfrm>
          <a:prstGeom prst="rect">
            <a:avLst/>
          </a:prstGeom>
          <a:noFill/>
        </p:spPr>
        <p:txBody>
          <a:bodyPr wrap="square" lIns="0" tIns="0" rIns="0" bIns="0">
            <a:spAutoFit/>
          </a:bodyPr>
          <a:lstStyle/>
          <a:p>
            <a:pPr algn="ctr">
              <a:spcAft>
                <a:spcPts val="1200"/>
              </a:spcAft>
              <a:defRPr sz="2800"/>
            </a:pPr>
            <a:r>
              <a:t>🛡️</a:t>
            </a:r>
          </a:p>
          <a:p>
            <a:pPr algn="ctr">
              <a:spcAft>
                <a:spcPts val="1400"/>
              </a:spcAft>
              <a:defRPr sz="1200" b="1">
                <a:solidFill>
                  <a:srgbClr val="2D2418"/>
                </a:solidFill>
                <a:latin typeface="Segoe UI"/>
              </a:defRPr>
            </a:pPr>
            <a:r>
              <a:t>Observability &amp; Sec</a:t>
            </a:r>
          </a:p>
          <a:p>
            <a:pPr algn="ctr">
              <a:defRPr sz="950">
                <a:solidFill>
                  <a:srgbClr val="6B4F3B"/>
                </a:solidFill>
                <a:latin typeface="Consolas"/>
              </a:defRPr>
            </a:pPr>
            <a:r>
              <a:t>Spring Actuator</a:t>
            </a:r>
            <a:br/>
            <a:r>
              <a:t>Prometheus Metrics</a:t>
            </a:r>
            <a:br/>
            <a:r>
              <a:t>Distributed Trace Logs</a:t>
            </a:r>
            <a:br/>
            <a:r>
              <a:t>JWT &amp; AES-256 Crypto</a:t>
            </a:r>
          </a:p>
        </p:txBody>
      </p:sp>
      <p:sp>
        <p:nvSpPr>
          <p:cNvPr id="15" name="Rectangle 14"/>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Engineering Highlight: Runs locally in seconds without requiring heavy Kubernetes or Docker setups, but scales into cloud clusters seamlessly.</a:t>
            </a:r>
          </a:p>
        </p:txBody>
      </p:sp>
      <p:sp>
        <p:nvSpPr>
          <p:cNvPr id="17" name="TextBox 16"/>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1188720"/>
          </a:xfrm>
          <a:prstGeom prst="rect">
            <a:avLst/>
          </a:prstGeom>
          <a:noFill/>
        </p:spPr>
        <p:txBody>
          <a:bodyPr wrap="square" lIns="0" tIns="0" rIns="0" bIns="0">
            <a:spAutoFit/>
          </a:bodyPr>
          <a:lstStyle/>
          <a:p>
            <a:pPr>
              <a:spcAft>
                <a:spcPts val="200"/>
              </a:spcAft>
              <a:defRPr sz="950" b="1">
                <a:solidFill>
                  <a:srgbClr val="D4760A"/>
                </a:solidFill>
                <a:latin typeface="Segoe UI"/>
              </a:defRPr>
            </a:pPr>
            <a:r>
              <a:t>VISION &amp; EXECUTION</a:t>
            </a:r>
          </a:p>
          <a:p>
            <a:pPr>
              <a:spcAft>
                <a:spcPts val="200"/>
              </a:spcAft>
              <a:defRPr sz="2200" b="1">
                <a:solidFill>
                  <a:srgbClr val="2D2418"/>
                </a:solidFill>
                <a:latin typeface="Segoe UI"/>
              </a:defRPr>
            </a:pPr>
            <a:r>
              <a:t>Strategic Product Roadmap: Evolutionary Maturity</a:t>
            </a:r>
          </a:p>
          <a:p>
            <a:pPr>
              <a:defRPr sz="1100">
                <a:solidFill>
                  <a:srgbClr val="6B4F3B"/>
                </a:solidFill>
                <a:latin typeface="Calibri"/>
              </a:defRPr>
            </a:pPr>
            <a:r>
              <a:t>A pragmatic three-phase growth trajectory advancing from gateway controls to autonomous governance.</a:t>
            </a:r>
          </a:p>
        </p:txBody>
      </p:sp>
      <p:sp>
        <p:nvSpPr>
          <p:cNvPr id="4" name="Rounded Rectangle 3"/>
          <p:cNvSpPr/>
          <p:nvPr/>
        </p:nvSpPr>
        <p:spPr>
          <a:xfrm>
            <a:off x="9326880" y="384048"/>
            <a:ext cx="2133295" cy="384048"/>
          </a:xfrm>
          <a:prstGeom prst="roundRect">
            <a:avLst/>
          </a:prstGeom>
          <a:solidFill>
            <a:srgbClr val="FFF3E0"/>
          </a:solidFill>
          <a:ln w="12700">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4760A"/>
                </a:solidFill>
                <a:latin typeface="Segoe UI"/>
              </a:defRPr>
            </a:pPr>
            <a:r>
              <a:t>PHASED EXPANSION</a:t>
            </a:r>
          </a:p>
        </p:txBody>
      </p:sp>
      <p:sp>
        <p:nvSpPr>
          <p:cNvPr id="5" name="Rounded Rectangle 4"/>
          <p:cNvSpPr/>
          <p:nvPr/>
        </p:nvSpPr>
        <p:spPr>
          <a:xfrm>
            <a:off x="731520" y="1691640"/>
            <a:ext cx="3364992"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91640"/>
            <a:ext cx="3364992" cy="73152"/>
          </a:xfrm>
          <a:prstGeom prst="rect">
            <a:avLst/>
          </a:prstGeom>
          <a:solidFill>
            <a:srgbClr val="D476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2907792" cy="3931920"/>
          </a:xfrm>
          <a:prstGeom prst="rect">
            <a:avLst/>
          </a:prstGeom>
          <a:noFill/>
        </p:spPr>
        <p:txBody>
          <a:bodyPr wrap="square" lIns="0" tIns="0" rIns="0" bIns="0">
            <a:spAutoFit/>
          </a:bodyPr>
          <a:lstStyle/>
          <a:p>
            <a:pPr>
              <a:spcAft>
                <a:spcPts val="200"/>
              </a:spcAft>
              <a:defRPr sz="1250" b="1">
                <a:solidFill>
                  <a:srgbClr val="D4760A"/>
                </a:solidFill>
                <a:latin typeface="Segoe UI"/>
              </a:defRPr>
            </a:pPr>
            <a:r>
              <a:t>Phase 1: Foundation (Current)</a:t>
            </a:r>
          </a:p>
          <a:p>
            <a:pPr>
              <a:spcAft>
                <a:spcPts val="1400"/>
              </a:spcAft>
              <a:defRPr sz="1050" b="1">
                <a:solidFill>
                  <a:srgbClr val="2D2418"/>
                </a:solidFill>
                <a:latin typeface="Segoe UI"/>
              </a:defRPr>
            </a:pPr>
            <a:r>
              <a:t>Inline Gateway &amp; Security Controls</a:t>
            </a:r>
          </a:p>
          <a:p>
            <a:pPr>
              <a:spcAft>
                <a:spcPts val="600"/>
              </a:spcAft>
              <a:defRPr sz="1000">
                <a:solidFill>
                  <a:srgbClr val="6B4F3B"/>
                </a:solidFill>
                <a:latin typeface="Calibri"/>
              </a:defRPr>
            </a:pPr>
            <a:r>
              <a:t>• Inline WebClient AI Gateway Proxy</a:t>
            </a:r>
          </a:p>
          <a:p>
            <a:pPr>
              <a:spcAft>
                <a:spcPts val="600"/>
              </a:spcAft>
              <a:defRPr sz="1000">
                <a:solidFill>
                  <a:srgbClr val="6B4F3B"/>
                </a:solidFill>
                <a:latin typeface="Calibri"/>
              </a:defRPr>
            </a:pPr>
            <a:r>
              <a:t>• Deterministic Prompt Security Scanner</a:t>
            </a:r>
          </a:p>
          <a:p>
            <a:pPr>
              <a:spcAft>
                <a:spcPts val="600"/>
              </a:spcAft>
              <a:defRPr sz="1000">
                <a:solidFill>
                  <a:srgbClr val="6B4F3B"/>
                </a:solidFill>
                <a:latin typeface="Calibri"/>
              </a:defRPr>
            </a:pPr>
            <a:r>
              <a:t>• Weighted Multi-Factor Risk Scoring Engine</a:t>
            </a:r>
          </a:p>
          <a:p>
            <a:pPr>
              <a:spcAft>
                <a:spcPts val="600"/>
              </a:spcAft>
              <a:defRPr sz="1000">
                <a:solidFill>
                  <a:srgbClr val="6B4F3B"/>
                </a:solidFill>
                <a:latin typeface="Calibri"/>
              </a:defRPr>
            </a:pPr>
            <a:r>
              <a:t>• Automated Token Redaction Engine</a:t>
            </a:r>
          </a:p>
          <a:p>
            <a:pPr>
              <a:spcAft>
                <a:spcPts val="600"/>
              </a:spcAft>
              <a:defRPr sz="1000">
                <a:solidFill>
                  <a:srgbClr val="6B4F3B"/>
                </a:solidFill>
                <a:latin typeface="Calibri"/>
              </a:defRPr>
            </a:pPr>
            <a:r>
              <a:t>• H2/Kafka Audit Logging &amp; Trace Replay</a:t>
            </a:r>
          </a:p>
        </p:txBody>
      </p:sp>
      <p:sp>
        <p:nvSpPr>
          <p:cNvPr id="8" name="Rounded Rectangle 7"/>
          <p:cNvSpPr/>
          <p:nvPr/>
        </p:nvSpPr>
        <p:spPr>
          <a:xfrm>
            <a:off x="4407408" y="1691640"/>
            <a:ext cx="3364992"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07408" y="1691640"/>
            <a:ext cx="3364992" cy="73152"/>
          </a:xfrm>
          <a:prstGeom prst="rect">
            <a:avLst/>
          </a:prstGeom>
          <a:solidFill>
            <a:srgbClr val="A162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8" y="1920240"/>
            <a:ext cx="2907792" cy="3931920"/>
          </a:xfrm>
          <a:prstGeom prst="rect">
            <a:avLst/>
          </a:prstGeom>
          <a:noFill/>
        </p:spPr>
        <p:txBody>
          <a:bodyPr wrap="square" lIns="0" tIns="0" rIns="0" bIns="0">
            <a:spAutoFit/>
          </a:bodyPr>
          <a:lstStyle/>
          <a:p>
            <a:pPr>
              <a:spcAft>
                <a:spcPts val="200"/>
              </a:spcAft>
              <a:defRPr sz="1250" b="1">
                <a:solidFill>
                  <a:srgbClr val="A16207"/>
                </a:solidFill>
                <a:latin typeface="Segoe UI"/>
              </a:defRPr>
            </a:pPr>
            <a:r>
              <a:t>Phase 2: Expansion (Q3-Q4 '26)</a:t>
            </a:r>
          </a:p>
          <a:p>
            <a:pPr>
              <a:spcAft>
                <a:spcPts val="1400"/>
              </a:spcAft>
              <a:defRPr sz="1050" b="1">
                <a:solidFill>
                  <a:srgbClr val="2D2418"/>
                </a:solidFill>
                <a:latin typeface="Segoe UI"/>
              </a:defRPr>
            </a:pPr>
            <a:r>
              <a:t>Enterprise Governance Platform</a:t>
            </a:r>
          </a:p>
          <a:p>
            <a:pPr>
              <a:spcAft>
                <a:spcPts val="600"/>
              </a:spcAft>
              <a:defRPr sz="1000">
                <a:solidFill>
                  <a:srgbClr val="6B4F3B"/>
                </a:solidFill>
                <a:latin typeface="Calibri"/>
              </a:defRPr>
            </a:pPr>
            <a:r>
              <a:t>• Department-level Quota &amp; Budget Manager</a:t>
            </a:r>
          </a:p>
          <a:p>
            <a:pPr>
              <a:spcAft>
                <a:spcPts val="600"/>
              </a:spcAft>
              <a:defRPr sz="1000">
                <a:solidFill>
                  <a:srgbClr val="6B4F3B"/>
                </a:solidFill>
                <a:latin typeface="Calibri"/>
              </a:defRPr>
            </a:pPr>
            <a:r>
              <a:t>• Fine-Grained RBAC &amp; Dynamic Access Tokens</a:t>
            </a:r>
          </a:p>
          <a:p>
            <a:pPr>
              <a:spcAft>
                <a:spcPts val="600"/>
              </a:spcAft>
              <a:defRPr sz="1000">
                <a:solidFill>
                  <a:srgbClr val="6B4F3B"/>
                </a:solidFill>
                <a:latin typeface="Calibri"/>
              </a:defRPr>
            </a:pPr>
            <a:r>
              <a:t>• SecOps Human-in-the-Loop Approval Queue</a:t>
            </a:r>
          </a:p>
          <a:p>
            <a:pPr>
              <a:spcAft>
                <a:spcPts val="600"/>
              </a:spcAft>
              <a:defRPr sz="1000">
                <a:solidFill>
                  <a:srgbClr val="6B4F3B"/>
                </a:solidFill>
                <a:latin typeface="Calibri"/>
              </a:defRPr>
            </a:pPr>
            <a:r>
              <a:t>• Pre-approved System Prompt Template Registry</a:t>
            </a:r>
          </a:p>
          <a:p>
            <a:pPr>
              <a:spcAft>
                <a:spcPts val="600"/>
              </a:spcAft>
              <a:defRPr sz="1000">
                <a:solidFill>
                  <a:srgbClr val="6B4F3B"/>
                </a:solidFill>
                <a:latin typeface="Calibri"/>
              </a:defRPr>
            </a:pPr>
            <a:r>
              <a:t>• Automated Compliance Report Export (PDF/CSV)</a:t>
            </a:r>
          </a:p>
        </p:txBody>
      </p:sp>
      <p:sp>
        <p:nvSpPr>
          <p:cNvPr id="11" name="Rounded Rectangle 10"/>
          <p:cNvSpPr/>
          <p:nvPr/>
        </p:nvSpPr>
        <p:spPr>
          <a:xfrm>
            <a:off x="8083296" y="1691640"/>
            <a:ext cx="3364992" cy="438912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83296" y="1691640"/>
            <a:ext cx="3364992" cy="731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1896" y="1920240"/>
            <a:ext cx="2907792" cy="3931920"/>
          </a:xfrm>
          <a:prstGeom prst="rect">
            <a:avLst/>
          </a:prstGeom>
          <a:noFill/>
        </p:spPr>
        <p:txBody>
          <a:bodyPr wrap="square" lIns="0" tIns="0" rIns="0" bIns="0">
            <a:spAutoFit/>
          </a:bodyPr>
          <a:lstStyle/>
          <a:p>
            <a:pPr>
              <a:spcAft>
                <a:spcPts val="200"/>
              </a:spcAft>
              <a:defRPr sz="1250" b="1">
                <a:solidFill>
                  <a:srgbClr val="2E7D32"/>
                </a:solidFill>
                <a:latin typeface="Segoe UI"/>
              </a:defRPr>
            </a:pPr>
            <a:r>
              <a:t>Phase 3: Scale (2027)</a:t>
            </a:r>
          </a:p>
          <a:p>
            <a:pPr>
              <a:spcAft>
                <a:spcPts val="1400"/>
              </a:spcAft>
              <a:defRPr sz="1050" b="1">
                <a:solidFill>
                  <a:srgbClr val="2D2418"/>
                </a:solidFill>
                <a:latin typeface="Segoe UI"/>
              </a:defRPr>
            </a:pPr>
            <a:r>
              <a:t>Autonomous Enterprise Scale</a:t>
            </a:r>
          </a:p>
          <a:p>
            <a:pPr>
              <a:spcAft>
                <a:spcPts val="600"/>
              </a:spcAft>
              <a:defRPr sz="1000">
                <a:solidFill>
                  <a:srgbClr val="6B4F3B"/>
                </a:solidFill>
                <a:latin typeface="Calibri"/>
              </a:defRPr>
            </a:pPr>
            <a:r>
              <a:t>• Kubernetes Multi-Region Mesh Deployment</a:t>
            </a:r>
          </a:p>
          <a:p>
            <a:pPr>
              <a:spcAft>
                <a:spcPts val="600"/>
              </a:spcAft>
              <a:defRPr sz="1000">
                <a:solidFill>
                  <a:srgbClr val="6B4F3B"/>
                </a:solidFill>
                <a:latin typeface="Calibri"/>
              </a:defRPr>
            </a:pPr>
            <a:r>
              <a:t>• Self-Learning Adversarial Threat Detectors</a:t>
            </a:r>
          </a:p>
          <a:p>
            <a:pPr>
              <a:spcAft>
                <a:spcPts val="600"/>
              </a:spcAft>
              <a:defRPr sz="1000">
                <a:solidFill>
                  <a:srgbClr val="6B4F3B"/>
                </a:solidFill>
                <a:latin typeface="Calibri"/>
              </a:defRPr>
            </a:pPr>
            <a:r>
              <a:t>• Hardware Security Module (HSM) Vault Integration</a:t>
            </a:r>
          </a:p>
          <a:p>
            <a:pPr>
              <a:spcAft>
                <a:spcPts val="600"/>
              </a:spcAft>
              <a:defRPr sz="1000">
                <a:solidFill>
                  <a:srgbClr val="6B4F3B"/>
                </a:solidFill>
                <a:latin typeface="Calibri"/>
              </a:defRPr>
            </a:pPr>
            <a:r>
              <a:t>• Agentic Autonomous Workflow Verification</a:t>
            </a:r>
          </a:p>
          <a:p>
            <a:pPr>
              <a:spcAft>
                <a:spcPts val="600"/>
              </a:spcAft>
              <a:defRPr sz="1000">
                <a:solidFill>
                  <a:srgbClr val="6B4F3B"/>
                </a:solidFill>
                <a:latin typeface="Calibri"/>
              </a:defRPr>
            </a:pPr>
            <a:r>
              <a:t>• Cross-Organization Federated Threat Sharing</a:t>
            </a:r>
          </a:p>
        </p:txBody>
      </p:sp>
      <p:sp>
        <p:nvSpPr>
          <p:cNvPr id="14" name="Rectangle 13"/>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Demonstrate foresight: Phase 1 is fully functional today; Phase 2 and 3 provide a clear path for enterprise-wide adoption.</a:t>
            </a:r>
          </a:p>
        </p:txBody>
      </p:sp>
      <p:sp>
        <p:nvSpPr>
          <p:cNvPr id="16" name="TextBox 15"/>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40080"/>
            <a:ext cx="10728655" cy="5486400"/>
          </a:xfrm>
          <a:prstGeom prst="roundRect">
            <a:avLst/>
          </a:prstGeom>
          <a:solidFill>
            <a:srgbClr val="FFFFFF"/>
          </a:solidFill>
          <a:ln w="15240">
            <a:solidFill>
              <a:srgbClr val="E8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40080"/>
            <a:ext cx="10728655" cy="109728"/>
          </a:xfrm>
          <a:prstGeom prst="rect">
            <a:avLst/>
          </a:prstGeom>
          <a:solidFill>
            <a:srgbClr val="D476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63870" y="1097280"/>
            <a:ext cx="1463040" cy="914400"/>
          </a:xfrm>
          <a:prstGeom prst="roundRect">
            <a:avLst/>
          </a:prstGeom>
          <a:solidFill>
            <a:srgbClr val="FFF3E0"/>
          </a:solidFill>
          <a:ln>
            <a:solidFill>
              <a:srgbClr val="D476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D4760A"/>
                </a:solidFill>
                <a:latin typeface="Segoe UI"/>
              </a:defRPr>
            </a:pPr>
            <a:r>
              <a:t>🛡️ SDS</a:t>
            </a:r>
          </a:p>
        </p:txBody>
      </p:sp>
      <p:sp>
        <p:nvSpPr>
          <p:cNvPr id="6" name="TextBox 5"/>
          <p:cNvSpPr txBox="1"/>
          <p:nvPr/>
        </p:nvSpPr>
        <p:spPr>
          <a:xfrm>
            <a:off x="1371600" y="2194560"/>
            <a:ext cx="9448495" cy="3474720"/>
          </a:xfrm>
          <a:prstGeom prst="rect">
            <a:avLst/>
          </a:prstGeom>
          <a:noFill/>
        </p:spPr>
        <p:txBody>
          <a:bodyPr wrap="square" lIns="0" tIns="0" rIns="0" bIns="0">
            <a:spAutoFit/>
          </a:bodyPr>
          <a:lstStyle/>
          <a:p>
            <a:pPr algn="ctr">
              <a:spcAft>
                <a:spcPts val="1600"/>
              </a:spcAft>
              <a:defRPr sz="2800" b="1">
                <a:solidFill>
                  <a:srgbClr val="2D2418"/>
                </a:solidFill>
                <a:latin typeface="Segoe UI"/>
              </a:defRPr>
            </a:pPr>
            <a:r>
              <a:t>Secure AI Adoption at Enterprise Scale</a:t>
            </a:r>
          </a:p>
          <a:p>
            <a:pPr algn="ctr">
              <a:spcAft>
                <a:spcPts val="2400"/>
              </a:spcAft>
              <a:defRPr sz="1600" b="1">
                <a:solidFill>
                  <a:srgbClr val="D4760A"/>
                </a:solidFill>
                <a:latin typeface="Segoe UI"/>
              </a:defRPr>
            </a:pPr>
            <a:r>
              <a:t>“Enterprise AI Guardian enables organizations to innovate boldly with Generative AI,</a:t>
            </a:r>
            <a:br/>
            <a:r>
              <a:t>while keeping intellectual property, regulatory compliance, and cost under complete control.”</a:t>
            </a:r>
          </a:p>
          <a:p>
            <a:pPr algn="ctr">
              <a:spcAft>
                <a:spcPts val="400"/>
              </a:spcAft>
              <a:defRPr sz="1200" b="1">
                <a:solidFill>
                  <a:srgbClr val="6B4F3B"/>
                </a:solidFill>
                <a:latin typeface="Segoe UI"/>
              </a:defRPr>
            </a:pPr>
            <a:r>
              <a:t>Digithon '26  |  AI / AX  |  AI Governance &amp; Security Track</a:t>
            </a:r>
          </a:p>
          <a:p>
            <a:pPr algn="ctr">
              <a:defRPr sz="1200" b="1">
                <a:solidFill>
                  <a:srgbClr val="D4760A"/>
                </a:solidFill>
                <a:latin typeface="Segoe UI"/>
              </a:defRPr>
            </a:pPr>
            <a:r>
              <a:t>Submitted by Abdhesh Singh  •  Dept - Knox Part</a:t>
            </a:r>
          </a:p>
        </p:txBody>
      </p:sp>
      <p:sp>
        <p:nvSpPr>
          <p:cNvPr id="7" name="Rectangle 6"/>
          <p:cNvSpPr/>
          <p:nvPr/>
        </p:nvSpPr>
        <p:spPr>
          <a:xfrm>
            <a:off x="731520" y="6291072"/>
            <a:ext cx="10728655" cy="13716"/>
          </a:xfrm>
          <a:prstGeom prst="rect">
            <a:avLst/>
          </a:prstGeom>
          <a:solidFill>
            <a:srgbClr val="E8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45936"/>
            <a:ext cx="7772400" cy="347472"/>
          </a:xfrm>
          <a:prstGeom prst="rect">
            <a:avLst/>
          </a:prstGeom>
          <a:noFill/>
        </p:spPr>
        <p:txBody>
          <a:bodyPr wrap="square" lIns="0" tIns="0" rIns="0" bIns="0">
            <a:spAutoFit/>
          </a:bodyPr>
          <a:lstStyle/>
          <a:p>
            <a:pPr>
              <a:defRPr sz="850">
                <a:solidFill>
                  <a:srgbClr val="9C7D64"/>
                </a:solidFill>
                <a:latin typeface="Calibri"/>
              </a:defRPr>
            </a:pPr>
            <a:r>
              <a:t>Enterprise AI Guardian  |  Digithon '26  |  Submitted by Abdhesh Singh, Dept - Knox Part</a:t>
            </a:r>
          </a:p>
          <a:p>
            <a:pPr>
              <a:defRPr sz="750" i="1">
                <a:solidFill>
                  <a:srgbClr val="D4760A"/>
                </a:solidFill>
                <a:latin typeface="Calibri"/>
              </a:defRPr>
            </a:pPr>
            <a:r>
              <a:t>PITCH CUE (10-Min Pacing): Concluding Call to Action: Thank the jury and open the floor for executive Q&amp;A.</a:t>
            </a:r>
          </a:p>
        </p:txBody>
      </p:sp>
      <p:sp>
        <p:nvSpPr>
          <p:cNvPr id="9" name="TextBox 8"/>
          <p:cNvSpPr txBox="1"/>
          <p:nvPr/>
        </p:nvSpPr>
        <p:spPr>
          <a:xfrm>
            <a:off x="9601200" y="6345936"/>
            <a:ext cx="1858975" cy="347472"/>
          </a:xfrm>
          <a:prstGeom prst="rect">
            <a:avLst/>
          </a:prstGeom>
          <a:noFill/>
        </p:spPr>
        <p:txBody>
          <a:bodyPr wrap="square" lIns="0" tIns="0" rIns="0" bIns="0">
            <a:spAutoFit/>
          </a:bodyPr>
          <a:lstStyle/>
          <a:p>
            <a:pPr algn="r">
              <a:defRPr sz="850" b="1">
                <a:solidFill>
                  <a:srgbClr val="D4760A"/>
                </a:solidFill>
                <a:latin typeface="Segoe UI"/>
              </a:defRPr>
            </a:pPr>
            <a:r>
              <a:t>SLIDE 21 /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