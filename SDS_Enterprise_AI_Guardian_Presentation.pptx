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D47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280160"/>
            <a:ext cx="731520" cy="731520"/>
          </a:xfrm>
          <a:prstGeom prst="roundRect">
            <a:avLst/>
          </a:prstGeom>
          <a:solidFill>
            <a:srgbClr val="D47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8686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2418"/>
                </a:solidFill>
                <a:latin typeface="Segoe UI"/>
              </a:defRPr>
            </a:pPr>
            <a:r>
              <a:t>Enterprise AI Guardian</a:t>
            </a:r>
          </a:p>
          <a:p>
            <a:pPr>
              <a:spcBef>
                <a:spcPts val="400"/>
              </a:spcBef>
              <a:defRPr sz="1800" b="1">
                <a:solidFill>
                  <a:srgbClr val="D4760A"/>
                </a:solidFill>
                <a:latin typeface="Segoe UI"/>
              </a:defRPr>
            </a:pPr>
            <a:r>
              <a:t>AI Governance &amp; Security Control Tower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834640"/>
            <a:ext cx="963137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3154680"/>
            <a:ext cx="4663440" cy="1645920"/>
          </a:xfrm>
          <a:prstGeom prst="roundRect">
            <a:avLst/>
          </a:prstGeom>
          <a:solidFill>
            <a:srgbClr val="FDF4E7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33756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HACKATHON TRACK &amp; CATEGORY</a:t>
            </a:r>
          </a:p>
          <a:p>
            <a:pPr>
              <a:defRPr sz="1400" b="1">
                <a:solidFill>
                  <a:srgbClr val="2D2418"/>
                </a:solidFill>
                <a:latin typeface="Segoe UI"/>
              </a:defRPr>
            </a:pPr>
            <a:r>
              <a:t>Digithon '26  |  AI / AX</a:t>
            </a:r>
            <a:br/>
            <a:r>
              <a:t>AI Governance &amp; Security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154680"/>
            <a:ext cx="4663440" cy="1645920"/>
          </a:xfrm>
          <a:prstGeom prst="roundRect">
            <a:avLst/>
          </a:prstGeom>
          <a:solidFill>
            <a:srgbClr val="FDF4E7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333756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SUBMITTED BY &amp; DEPARTMENT</a:t>
            </a:r>
          </a:p>
          <a:p>
            <a:pPr>
              <a:defRPr sz="1400" b="1">
                <a:solidFill>
                  <a:srgbClr val="2D2418"/>
                </a:solidFill>
                <a:latin typeface="Segoe UI"/>
              </a:defRPr>
            </a:pPr>
            <a:r>
              <a:t>Abdhesh Singh</a:t>
            </a:r>
            <a:br/>
            <a:r>
              <a:t>Dept - Knox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29200"/>
            <a:ext cx="96313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9C7D64"/>
                </a:solidFill>
                <a:latin typeface="Segoe UI"/>
              </a:defRPr>
            </a:pPr>
            <a:r>
              <a:t>ENTERPRISE REAL-TIME INLINE AI GATEWAY &amp; COMPLIANCE OBSERVABILITY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EXECUTIVE CONTEXT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The AI Security Challenge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Uncontrolled Generative AI adoption exposes enterprises to severe exfiltration and regulatory hazards.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THE ENTERPRISE ADOPTION DILEMMA</a:t>
            </a:r>
          </a:p>
          <a:p>
            <a:pPr>
              <a:spcAft>
                <a:spcPts val="1600"/>
              </a:spcAft>
              <a:defRPr sz="1250">
                <a:solidFill>
                  <a:srgbClr val="2D2418"/>
                </a:solidFill>
                <a:latin typeface="Calibri"/>
              </a:defRPr>
            </a:pPr>
            <a:r>
              <a:t>Employees are rapidly adopting frontier AI assistants to accelerate daily workflows. Without automated inline guardrails, sensitive corporate IP and regulated data routinely escape perimeters through unregulated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383280"/>
            <a:ext cx="4663440" cy="146304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7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04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760A"/>
                </a:solidFill>
                <a:latin typeface="Segoe UI"/>
              </a:defRPr>
            </a:pPr>
            <a:r>
              <a:t>CORE IMPERATIVE:</a:t>
            </a:r>
          </a:p>
          <a:p>
            <a:pPr>
              <a:defRPr sz="1300" b="1">
                <a:solidFill>
                  <a:srgbClr val="2D2418"/>
                </a:solidFill>
                <a:latin typeface="Segoe UI"/>
              </a:defRPr>
            </a:pPr>
            <a:r>
              <a:t>“Organizations need visibility and control before AI requests reach external models.”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92024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CRITICAL DATA LEAKAGE VECTORS</a:t>
            </a:r>
          </a:p>
          <a:p>
            <a:pPr>
              <a:spcBef>
                <a:spcPts val="4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• Accidental Secret Sharing</a:t>
            </a:r>
          </a:p>
          <a:p>
            <a:pPr>
              <a:spcAft>
                <a:spcPts val="4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   Hardcoded API keys, JWT tokens, AWS credentials, and database passwords pasted into prompts.</a:t>
            </a:r>
          </a:p>
          <a:p>
            <a:pPr>
              <a:spcBef>
                <a:spcPts val="4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• Customer Data Exposure</a:t>
            </a:r>
          </a:p>
          <a:p>
            <a:pPr>
              <a:spcAft>
                <a:spcPts val="4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   PII, Social Security Numbers, credit cards, and customer addresses uploaded for analysis.</a:t>
            </a:r>
          </a:p>
          <a:p>
            <a:pPr>
              <a:spcBef>
                <a:spcPts val="4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• Proprietary Source Code Leakage</a:t>
            </a:r>
          </a:p>
          <a:p>
            <a:pPr>
              <a:spcAft>
                <a:spcPts val="4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   Core algorithms, intellectual property, and trade secret logic sent to commercial clouds.</a:t>
            </a:r>
          </a:p>
          <a:p>
            <a:pPr>
              <a:spcBef>
                <a:spcPts val="4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• Confidential Document Upload</a:t>
            </a:r>
          </a:p>
          <a:p>
            <a:pPr>
              <a:spcAft>
                <a:spcPts val="4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   Unredacted financial forecasts, M&amp;A strategies, and NDA-protected legal filings.</a:t>
            </a:r>
          </a:p>
          <a:p>
            <a:pPr>
              <a:spcBef>
                <a:spcPts val="4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• Prompt Injection Attacks</a:t>
            </a:r>
          </a:p>
          <a:p>
            <a:pPr>
              <a:spcAft>
                <a:spcPts val="4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   Jailbreak payloads, override instructions, and system prompt exfiltration attempts.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SOLUTION OVERVIEW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Enterprise AI Guardian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A centralized, zero-bypass governance plane providing inline security inspection and auditability.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6B4F3B"/>
                </a:solidFill>
                <a:latin typeface="Consolas"/>
              </a:defRPr>
            </a:pPr>
            <a:r>
              <a:t>01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Employee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Ingress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4832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57984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D4760A"/>
                </a:solidFill>
                <a:latin typeface="Consolas"/>
              </a:defRPr>
            </a:pPr>
            <a:r>
              <a:t>02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AI Gateway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Proxy &amp;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D4760A"/>
                </a:solidFill>
                <a:latin typeface="Consolas"/>
              </a:defRPr>
            </a:pPr>
            <a:r>
              <a:t>03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Security Scanner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PII &amp;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6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D4760A"/>
                </a:solidFill>
                <a:latin typeface="Consolas"/>
              </a:defRPr>
            </a:pPr>
            <a:r>
              <a:t>04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Risk Engine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Score (0-100)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D4760A"/>
                </a:solidFill>
                <a:latin typeface="Consolas"/>
              </a:defRPr>
            </a:pPr>
            <a:r>
              <a:t>05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Decision Engine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Allow/Review/Block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E7D32"/>
                </a:solidFill>
                <a:latin typeface="Consolas"/>
              </a:defRPr>
            </a:pPr>
            <a:r>
              <a:t>06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AI Model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Frontier / Mock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1392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4544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D4760A"/>
                </a:solidFill>
                <a:latin typeface="Consolas"/>
              </a:defRPr>
            </a:pPr>
            <a:r>
              <a:t>07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Quality Checker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Hallucination/Safety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148840"/>
            <a:ext cx="16459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D4760A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04704" y="1737360"/>
            <a:ext cx="1188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77856" y="1847088"/>
            <a:ext cx="1042416" cy="106070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6B4F3B"/>
                </a:solidFill>
                <a:latin typeface="Consolas"/>
              </a:defRPr>
            </a:pPr>
            <a:r>
              <a:t>08</a:t>
            </a:r>
          </a:p>
          <a:p>
            <a:pPr algn="ctr">
              <a:spcAft>
                <a:spcPts val="3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Audit Dashboard</a:t>
            </a:r>
          </a:p>
          <a:p>
            <a:pPr algn="ctr">
              <a:defRPr sz="850">
                <a:solidFill>
                  <a:srgbClr val="6B4F3B"/>
                </a:solidFill>
                <a:latin typeface="Calibri"/>
              </a:defRPr>
            </a:pPr>
            <a:r>
              <a:t>Kafka &amp; H2 Ledger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337560"/>
            <a:ext cx="336499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566160"/>
            <a:ext cx="281635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🛡️  Zero-Bypass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6B4F3B"/>
                </a:solidFill>
                <a:latin typeface="Calibri"/>
              </a:defRPr>
            </a:pPr>
            <a:r>
              <a:t>Every AI request is mediated through the gateway proxy before leaving the enterprise boundary. No direct model calls permitted.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337560"/>
            <a:ext cx="336499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566160"/>
            <a:ext cx="281635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⚡  Automated Threat Neutralization</a:t>
            </a:r>
          </a:p>
          <a:p>
            <a:pPr>
              <a:spcAft>
                <a:spcPts val="1000"/>
              </a:spcAft>
              <a:defRPr sz="1100">
                <a:solidFill>
                  <a:srgbClr val="6B4F3B"/>
                </a:solidFill>
                <a:latin typeface="Calibri"/>
              </a:defRPr>
            </a:pPr>
            <a:r>
              <a:t>Sensitive secrets, credentials, and PII are redacted on-the-fly; jailbreak prompts are instantly blocked without human delay.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3337560"/>
            <a:ext cx="336499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3566160"/>
            <a:ext cx="281635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📋  Comprehensive Auditability</a:t>
            </a:r>
          </a:p>
          <a:p>
            <a:pPr>
              <a:spcAft>
                <a:spcPts val="1000"/>
              </a:spcAft>
              <a:defRPr sz="1100">
                <a:solidFill>
                  <a:srgbClr val="6B4F3B"/>
                </a:solidFill>
                <a:latin typeface="Calibri"/>
              </a:defRPr>
            </a:pPr>
            <a:r>
              <a:t>Every prompt, decision, token count, cost, and hallucination score is immutably logged into a central compliance data store.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SYSTEM DESIGN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High Level Architecture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Decoupled hexagonal microservices architecture running natively on Spring Boot 3.3 and React.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CORE GATEWAY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AI Gateway (Port 8080)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WebClient reactive reverse proxy orchestrating the 9-stage pipeline trace and circuit breaking.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69164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8" y="187452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DETECTION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Prompt Security Scanner (Port 8081)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Multi-threaded pattern &amp; regex detector for PII, secrets, API keys, credentials, and jailbreaks.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69164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187452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RISK MATRIX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Risk Scoring Engine (Port 8082)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Weighted multi-factor matrix computing composite risk score (0-100) and enforcement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LLM INTEGRATION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LLM Connector &amp; Upstream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OpenAI, Claude, and Gemini adapter layer with local deterministic mock mode for zero-cost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93192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11480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VALIDATION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Response Quality Checker (Port 8084)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Post-generation verification validating response safety, factual alignment, and hallucination.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3931920"/>
            <a:ext cx="33649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4114800"/>
            <a:ext cx="290779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D4760A"/>
                </a:solidFill>
                <a:latin typeface="Segoe UI"/>
              </a:defRPr>
            </a:pPr>
            <a:r>
              <a:t>AUDIT TRAIL</a:t>
            </a:r>
          </a:p>
          <a:p>
            <a:pPr>
              <a:spcAft>
                <a:spcPts val="400"/>
              </a:spcAft>
              <a:defRPr sz="1150" b="1">
                <a:solidFill>
                  <a:srgbClr val="2D2418"/>
                </a:solidFill>
                <a:latin typeface="Segoe UI"/>
              </a:defRPr>
            </a:pPr>
            <a:r>
              <a:t>Audit Service (Port 8083)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Distributed event streaming through Apache Kafka with H2/PostgreSQL persistence and compliance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10728655" cy="548640"/>
          </a:xfrm>
          <a:prstGeom prst="roundRect">
            <a:avLst/>
          </a:prstGeom>
          <a:solidFill>
            <a:srgbClr val="FDF4E7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4760A"/>
                </a:solidFill>
                <a:latin typeface="Consolas"/>
              </a:defRPr>
            </a:pPr>
            <a:r>
              <a:t>DATA FLOW: Client HTTP Ingress → AI Gateway → Scanner Pipeline → Risk Assessment → Policy Gate (Allow / Review / Block) → LLM Completion → Quality Check → Kafka Audit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EXECUTION PIPELINE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Functional Flow (8-Stage Inspection)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Every transaction traverses an uninterrupted synchronous-to-asynchronous evaluation lifecycle.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01368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1. User Auth &amp; Context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Validates caller JWT token, user identity, role clearance (e.g. Intern, Engineer, Admin), and department governance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43784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535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2. Prompt Ingestion &amp; Scanning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Parallel lexical &amp; regex token inspection checking for credential patterns, API keys, confidential tags, and jailbreaks.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95928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05656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3. Data Classification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Categorizes input data payload (PII, Financial, Source Code, Credentials, Safe) and tags sensitivity factor.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48072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4. Risk Scoring Engine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Calculates composite risk score (0-100) using weighted multi-factor heuristic matrix across role, category, and target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691640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801368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5. Decision Gate Enforcement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Evaluates risk against organizational threshold: ALLOW (auto-redact if needed), REVIEW (queue for human approval), or BLOCK.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2843784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29535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6. Upstream LLM Execution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Dispatches sanitized payload to frontier LLM (OpenAI, Gemini, Claude) or returns deterministic governed mock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3995928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0975" y="4105656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7. Response Validation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Inspects generated LLM completion for hallucination probability, toxic output, policy violation, or accidental secret leakage.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5148072"/>
            <a:ext cx="52120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5257800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8. Asynchronous Audit Logging</a:t>
            </a:r>
          </a:p>
          <a:p>
            <a:pPr>
              <a:defRPr sz="950">
                <a:solidFill>
                  <a:srgbClr val="2D2418"/>
                </a:solidFill>
                <a:latin typeface="Calibri"/>
              </a:defRPr>
            </a:pPr>
            <a:r>
              <a:t>Dispatches complete end-to-end execution metadata to Kafka &amp; local H2 datastore for compliance recording and tracing.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THREAT DETECTION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Prompt Security Scanner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High-throughput deterministic pattern analysis intercepting sensitive tokens and adversarial payloads.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CORE DETECTION CAPABILITIES</a:t>
            </a:r>
          </a:p>
          <a:p>
            <a:pPr>
              <a:spcBef>
                <a:spcPts val="400"/>
              </a:spcBef>
              <a:defRPr sz="1100" b="1">
                <a:solidFill>
                  <a:srgbClr val="2D2418"/>
                </a:solidFill>
                <a:latin typeface="Segoe UI"/>
              </a:defRPr>
            </a:pPr>
            <a:r>
              <a:t>• API Keys &amp; Cloud Tokens</a:t>
            </a:r>
          </a:p>
          <a:p>
            <a:pPr>
              <a:spcAft>
                <a:spcPts val="300"/>
              </a:spcAft>
              <a:defRPr sz="950">
                <a:solidFill>
                  <a:srgbClr val="6B4F3B"/>
                </a:solidFill>
                <a:latin typeface="Calibri"/>
              </a:defRPr>
            </a:pPr>
            <a:r>
              <a:t>   AWS access keys, OpenAI keys, GCP service accounts, HuggingFace tokens.</a:t>
            </a:r>
          </a:p>
          <a:p>
            <a:pPr>
              <a:spcBef>
                <a:spcPts val="400"/>
              </a:spcBef>
              <a:defRPr sz="1100" b="1">
                <a:solidFill>
                  <a:srgbClr val="2D2418"/>
                </a:solidFill>
                <a:latin typeface="Segoe UI"/>
              </a:defRPr>
            </a:pPr>
            <a:r>
              <a:t>• Passwords &amp; Private Keys</a:t>
            </a:r>
          </a:p>
          <a:p>
            <a:pPr>
              <a:spcAft>
                <a:spcPts val="300"/>
              </a:spcAft>
              <a:defRPr sz="950">
                <a:solidFill>
                  <a:srgbClr val="6B4F3B"/>
                </a:solidFill>
                <a:latin typeface="Calibri"/>
              </a:defRPr>
            </a:pPr>
            <a:r>
              <a:t>   Database connection strings, RSA/SSH private keys, authentication passwords.</a:t>
            </a:r>
          </a:p>
          <a:p>
            <a:pPr>
              <a:spcBef>
                <a:spcPts val="400"/>
              </a:spcBef>
              <a:defRPr sz="1100" b="1">
                <a:solidFill>
                  <a:srgbClr val="2D2418"/>
                </a:solidFill>
                <a:latin typeface="Segoe UI"/>
              </a:defRPr>
            </a:pPr>
            <a:r>
              <a:t>• Personal Identifiable Info (PII)</a:t>
            </a:r>
          </a:p>
          <a:p>
            <a:pPr>
              <a:spcAft>
                <a:spcPts val="300"/>
              </a:spcAft>
              <a:defRPr sz="950">
                <a:solidFill>
                  <a:srgbClr val="6B4F3B"/>
                </a:solidFill>
                <a:latin typeface="Calibri"/>
              </a:defRPr>
            </a:pPr>
            <a:r>
              <a:t>   Social Security Numbers, credit card numbers, email addresses, phone records.</a:t>
            </a:r>
          </a:p>
          <a:p>
            <a:pPr>
              <a:spcBef>
                <a:spcPts val="400"/>
              </a:spcBef>
              <a:defRPr sz="1100" b="1">
                <a:solidFill>
                  <a:srgbClr val="2D2418"/>
                </a:solidFill>
                <a:latin typeface="Segoe UI"/>
              </a:defRPr>
            </a:pPr>
            <a:r>
              <a:t>• Adversarial Prompt Injection</a:t>
            </a:r>
          </a:p>
          <a:p>
            <a:pPr>
              <a:spcAft>
                <a:spcPts val="300"/>
              </a:spcAft>
              <a:defRPr sz="950">
                <a:solidFill>
                  <a:srgbClr val="6B4F3B"/>
                </a:solidFill>
                <a:latin typeface="Calibri"/>
              </a:defRPr>
            </a:pPr>
            <a:r>
              <a:t>   Bypass attempts, jailbreaks, system instruction overrides, DAN exploits.</a:t>
            </a:r>
          </a:p>
          <a:p>
            <a:pPr>
              <a:spcBef>
                <a:spcPts val="400"/>
              </a:spcBef>
              <a:defRPr sz="1100" b="1">
                <a:solidFill>
                  <a:srgbClr val="2D2418"/>
                </a:solidFill>
                <a:latin typeface="Segoe UI"/>
              </a:defRPr>
            </a:pPr>
            <a:r>
              <a:t>• Source Code &amp; Confidential Data</a:t>
            </a:r>
          </a:p>
          <a:p>
            <a:pPr>
              <a:spcAft>
                <a:spcPts val="300"/>
              </a:spcAft>
              <a:defRPr sz="950">
                <a:solidFill>
                  <a:srgbClr val="6B4F3B"/>
                </a:solidFill>
                <a:latin typeface="Calibri"/>
              </a:defRPr>
            </a:pPr>
            <a:r>
              <a:t>   Proprietary code snippets, internal architecture schemas, and confidential tags.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Prompt Security Scanner Console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UI view of Prompt Security Scanner detecting PII, credentials, and injection attempts with flagged risk scores.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DATA PRIVACY PRESERVATION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Auto Redaction Engine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Intelligently masking sensitive secrets while preserving semantic utility for downstream LLMs.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SELECTIVE SANITIZATION</a:t>
            </a:r>
          </a:p>
          <a:p>
            <a:pPr>
              <a:spcAft>
                <a:spcPts val="1200"/>
              </a:spcAft>
              <a:defRPr sz="1100">
                <a:solidFill>
                  <a:srgbClr val="2D2418"/>
                </a:solidFill>
                <a:latin typeface="Calibri"/>
              </a:defRPr>
            </a:pPr>
            <a:r>
              <a:t>Instead of indiscriminately blocking every query containing confidential identifiers, Enterprise AI Guardian features an inline redaction engine that masks secrets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926080"/>
            <a:ext cx="4206240" cy="1280160"/>
          </a:xfrm>
          <a:prstGeom prst="roundRect">
            <a:avLst/>
          </a:prstGeom>
          <a:solidFill>
            <a:srgbClr val="FDF4E7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C62828"/>
                </a:solidFill>
                <a:latin typeface="Segoe UI"/>
              </a:defRPr>
            </a:pPr>
            <a:r>
              <a:t>BEFORE SANITIZATION (RAW INGRESS):</a:t>
            </a:r>
          </a:p>
          <a:p>
            <a:pPr>
              <a:defRPr sz="900">
                <a:solidFill>
                  <a:srgbClr val="2D2418"/>
                </a:solidFill>
                <a:latin typeface="Consolas"/>
              </a:defRPr>
            </a:pPr>
            <a:r>
              <a:t>SSN: 123-45-6789 | Card: 4111-2222-3333-4444</a:t>
            </a:r>
            <a:br/>
            <a:r>
              <a:t>API_KEY: sk-live-992817293847291028374829</a:t>
            </a:r>
            <a:br/>
            <a:r>
              <a:t>password=SecretPassword123!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389120"/>
            <a:ext cx="4206240" cy="128016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2E7D32"/>
                </a:solidFill>
                <a:latin typeface="Segoe UI"/>
              </a:defRPr>
            </a:pPr>
            <a:r>
              <a:t>AFTER SANITIZATION (MODEL-READY):</a:t>
            </a:r>
          </a:p>
          <a:p>
            <a:pPr>
              <a:defRPr sz="900">
                <a:solidFill>
                  <a:srgbClr val="2D2418"/>
                </a:solidFill>
                <a:latin typeface="Consolas"/>
              </a:defRPr>
            </a:pPr>
            <a:r>
              <a:t>SSN: [REDACTED_SSN] | Card: [REDACTED_CARD]</a:t>
            </a:r>
            <a:br/>
            <a:r>
              <a:t>API_KEY: [REDACTED_OPENAI_KEY]</a:t>
            </a:r>
            <a:br/>
            <a:r>
              <a:t>password=[REDACTED_SECRET]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Redaction Engine &amp; Masked Prompt Inspector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playground redacted view tab illustrating side-by-side original prompt vs masked tokens ([REDACTED]).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QUANTITATIVE RISK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Risk Scoring Engine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Weighted multi-factor heuristic calculating normalized 0–100 threat scores per interaction.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MULTI-FACTOR EVALUATION MATRIX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Data Sensitivity (Weight: 35%)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Severity of detected tokens (Confidential, PII, Secrets, Code).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User Role &amp; Clearance (Weight: 20%)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Principal privilege level (Intern, Contractor, Engineer, Admin).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Department Governance (Weight: 15%)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Budget constraints, strictness policy, and compliance tier.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Prompt Intent Category (Weight: 20%)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Heuristic classification (Code Debug, General, Financial, HR).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Target Model Profile (Weight: 10%)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External cloud LLM vs internal on-premise hosted model.</a:t>
            </a:r>
          </a:p>
          <a:p>
            <a:pPr>
              <a:spcBef>
                <a:spcPts val="800"/>
              </a:spcBef>
              <a:defRPr sz="1000" b="1">
                <a:solidFill>
                  <a:srgbClr val="D4760A"/>
                </a:solidFill>
                <a:latin typeface="Segoe UI"/>
              </a:defRPr>
            </a:pPr>
            <a:r>
              <a:t>FOUR ENFORCEMENT RISK TIERS:</a:t>
            </a:r>
          </a:p>
          <a:p>
            <a:pPr>
              <a:defRPr sz="950" b="1">
                <a:solidFill>
                  <a:srgbClr val="2D2418"/>
                </a:solidFill>
                <a:latin typeface="Consolas"/>
              </a:defRPr>
            </a:pPr>
            <a:r>
              <a:t>LOW (0-29)  |  MEDIUM (30-59)  |  HIGH (60-79)  |  CRITICAL (80-100)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Risk Engine Breakdown &amp; Factor Scoring Matrix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Risk Engine score breakdown UI showing factor contributions and risk score gauge (0-100).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ENFORCEMENT LOGIC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AI Request Decision Engine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Deterministic policy enforcement directing traffic into three governed operational outcomes.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THREE OPERATIONAL OUTCOMES</a:t>
            </a:r>
          </a:p>
          <a:p>
            <a:pPr>
              <a:spcBef>
                <a:spcPts val="800"/>
              </a:spcBef>
              <a:defRPr sz="1150" b="1">
                <a:solidFill>
                  <a:srgbClr val="2E7D32"/>
                </a:solidFill>
                <a:latin typeface="Segoe UI"/>
              </a:defRPr>
            </a:pPr>
            <a:r>
              <a:t>■  ALLOW (Score &lt; 60)</a:t>
            </a:r>
          </a:p>
          <a:p>
            <a:pPr>
              <a:spcBef>
                <a:spcPts val="200"/>
              </a:spcBef>
              <a:defRPr sz="1000">
                <a:solidFill>
                  <a:srgbClr val="2D2418"/>
                </a:solidFill>
                <a:latin typeface="Calibri"/>
              </a:defRPr>
            </a:pPr>
            <a:r>
              <a:t>Low/Medium risk request compliant with organizational security policies. Dispatches sanitized query to target model with sub-second latency.</a:t>
            </a:r>
          </a:p>
          <a:p>
            <a:pPr>
              <a:spcBef>
                <a:spcPts val="800"/>
              </a:spcBef>
              <a:defRPr sz="1150" b="1">
                <a:solidFill>
                  <a:srgbClr val="A16207"/>
                </a:solidFill>
                <a:latin typeface="Segoe UI"/>
              </a:defRPr>
            </a:pPr>
            <a:r>
              <a:t>■  REVIEW (Score 60 - 79)</a:t>
            </a:r>
          </a:p>
          <a:p>
            <a:pPr>
              <a:spcBef>
                <a:spcPts val="200"/>
              </a:spcBef>
              <a:defRPr sz="1000">
                <a:solidFill>
                  <a:srgbClr val="2D2418"/>
                </a:solidFill>
                <a:latin typeface="Calibri"/>
              </a:defRPr>
            </a:pPr>
            <a:r>
              <a:t>High-risk request intercepted for human-in-the-loop governance. Dispatched to security review queue; caller receives pending notification.</a:t>
            </a:r>
          </a:p>
          <a:p>
            <a:pPr>
              <a:spcBef>
                <a:spcPts val="800"/>
              </a:spcBef>
              <a:defRPr sz="1150" b="1">
                <a:solidFill>
                  <a:srgbClr val="C62828"/>
                </a:solidFill>
                <a:latin typeface="Segoe UI"/>
              </a:defRPr>
            </a:pPr>
            <a:r>
              <a:t>■  BLOCK (Score &gt;= 80)</a:t>
            </a:r>
          </a:p>
          <a:p>
            <a:pPr>
              <a:spcBef>
                <a:spcPts val="200"/>
              </a:spcBef>
              <a:defRPr sz="1000">
                <a:solidFill>
                  <a:srgbClr val="2D2418"/>
                </a:solidFill>
                <a:latin typeface="Calibri"/>
              </a:defRPr>
            </a:pPr>
            <a:r>
              <a:t>Critical threat, active jailbreak attack, or unredactable credential leak. Gateway immediately aborts request, returning violation audit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Decision Engine Pipeline Trace &amp; Action Modal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UI pipeline trace viewer showcasing decision verdict (ALLOW, REVIEW, or BLOCK) with violation context.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MODEL ORCHESTRATION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LLM Governance &amp; Catalog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Unified multi-vendor abstraction layer delivering cost controls, token metering, and mock capabilities.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MANAGED LLM INTEGRATION LAYER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Multi-Model Vendor Support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Vendor-agnostic routing supporting OpenAI (GPT-4o), Anthropic (Claude 3.5), Google (Gemini 1.5), and local models.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OpenAI API Protocol Compatibility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Standardized chat completions interface allowing zero-code migration for existing enterprise applications.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Deterministic Mock Provider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Local offline completion simulator enabling 100% test coverage with zero cloud token consumption and 0ms cost.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Precise Token Accounting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Accurate per-request tracking of input prompt tokens, output completion tokens, and peak memory utilization.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Real-Time Financial Cost Calculation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Automated dollar cost computation based on live vendor pricing matrices (e.g. $5.00/1M prompt tokens).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Model Catalog, Token Usage &amp; Cost Analytics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UI model governance view showing supported vendor models, pricing tables, and token consumption charts.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POST-GENERATION VALIDATION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Response Quality Checker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Egress inspection validating model output integrity, hallucination bounds, and safety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EGRESS GUARDRAIL INSPECTION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Hallucination Detection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Statistical confidence scoring checking factual grounding and unsupported algorithmic claims.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Secret Leakage in Output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Ensures LLM has not inadvertently memorized or regurgitated internal enterprise API credentials.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Policy &amp; Toxicity Validation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Automated lexical sentiment scan ensuring absence of offensive, biased, or defamatory responses.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Compliance Enforcement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Verifies output conforms to internal regulatory standards before releasing response payload to end users.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Automated Fail-Safe Fallback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Flagged unsafe responses are suppressed and replaced with governed enterprise fallback messages.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Response Quality Checker &amp; Hallucination Score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quality evaluation view showing response verdict (PASS/FAIL), toxicity score, and hallucination percentage.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REGULATORY ASSURANCE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Audit &amp; Compliance Ledger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Immutable, tamper-evident recording of every enterprise AI interaction across all departments.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COMPREHENSIVE AUDIT TRAIL METADATA</a:t>
            </a:r>
          </a:p>
          <a:p>
            <a:pPr>
              <a:spcAft>
                <a:spcPts val="600"/>
              </a:spcAft>
              <a:defRPr sz="1050">
                <a:solidFill>
                  <a:srgbClr val="2D2418"/>
                </a:solidFill>
                <a:latin typeface="Calibri"/>
              </a:defRPr>
            </a:pPr>
            <a:r>
              <a:t>Every transaction is captured in full fidelity for regulatory auditing (NIST AI RMF, ISO/IEC 42001, OWASP Top 10 for LLMs):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User Identity &amp; Role: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Authenticated principal email, user role (Intern, Engineer, Admin), and IP.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Department &amp; Cost Center: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Organizational unit attribution for billing and compliance reporting.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Prompt Category &amp; Sensitivity: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Heuristic classification tag and detected data entities.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Risk Score &amp; Decision Verdict: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Composite risk metric (0-100) and enforcement outcome (ALLOW/REVIEW/BLOCK).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Tokens, Cost &amp; Microsecond Latency: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Input/output token counts, accurate dollar cost, and stage timing.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Audit Log Explorer &amp; Compliance Search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Audit Log Explorer table showcasing filter tabs (All, Risk Alerts, Blocked, Review), user IDs, risk scores, and timestamps.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EXECUTIVE OVERVIEW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Executive Operations Dashboard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High-level real-time visibility into enterprise-wide AI utilization, threat postures, and expenditure.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CORE EXECUTIVE TELEMETRY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Total Ingested Prompts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Real-time volume tracking of all prompt interactions across enterprise teams.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Blocked Adversarial Attacks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Instant count and ratio of intercepted threats, injections, and data leaks.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Pending Human Approvals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Live count of high-risk requests awaiting SecOps authorization.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Total Incurred LLM Cost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Aggregated financial expenditure across all models and departments.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Multi-Tier Risk Distribution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Visual breakdown of prompts classified into Low, Medium, High, and Critical.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Executive Governance Dashboard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primary Operations Dashboard showing 4 top KPI cards (Total Requests, Blocked, Pending, Cost) and 24-Hour Traffic Chart.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THREAT INTELLIGENCE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Real-Time Risk Alerts &amp; Incidents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Automated detection of security incidents, policy infractions, and emerging attack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INCIDENT DETECTION &amp; MITIGATION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Critical Event Escalation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Immediate notification of high-severity jailbreak overrides and root key leaks.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Policy Infraction Tagging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Pinpointing exact policy rules breached (e.g. POL-01 Prompt Injection, POL-03 PII).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Adversarial Pattern Clustering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Correlating repeated attack patterns across multiple callers or subnets.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Real-Time SecOps Triage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One-click audit drilldown providing sanitized prompt forensics and trace timeline.</a:t>
            </a:r>
          </a:p>
          <a:p>
            <a:pPr>
              <a:spcBef>
                <a:spcPts val="300"/>
              </a:spcBef>
              <a:defRPr sz="1050" b="1">
                <a:solidFill>
                  <a:srgbClr val="2D2418"/>
                </a:solidFill>
                <a:latin typeface="Segoe UI"/>
              </a:defRPr>
            </a:pPr>
            <a:r>
              <a:t>• Automated Threat Containment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Configurable auto-isolation of compromised API tokens or repeat-offender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Risk Alerts &amp; Incident Notification Center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UI notification drop-panel and alerts explorer highlighting Critical, Warning, and Info security events.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HUMAN-IN-THE-LOOP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Approval Queue &amp; Workflow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Orchestrating SecOps review for borderline or high-impact prompts before model invocation.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46634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2062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HUMAN GOVERNANCE WORKFLOW</a:t>
            </a:r>
          </a:p>
          <a:p>
            <a:pPr>
              <a:spcAft>
                <a:spcPts val="800"/>
              </a:spcAft>
              <a:defRPr sz="1050">
                <a:solidFill>
                  <a:srgbClr val="2D2418"/>
                </a:solidFill>
                <a:latin typeface="Calibri"/>
              </a:defRPr>
            </a:pPr>
            <a:r>
              <a:t>Prompts triggering moderate data sensitivity or high financial impact are held in a secure pending queue rather than being rejected outright: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1. Request Flagged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Engine assigns REVIEW status based on elevated risk score (60-79).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2. Queue Routing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Ticket routed to SecOps architect queue with violation summary and redaction preview.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3. Triage &amp; Decision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Reviewer inspects business justification and clicks Approve or Reject.</a:t>
            </a:r>
          </a:p>
          <a:p>
            <a:pPr>
              <a:defRPr sz="1000" b="1">
                <a:solidFill>
                  <a:srgbClr val="2D2418"/>
                </a:solidFill>
                <a:latin typeface="Segoe UI"/>
              </a:defRPr>
            </a:pPr>
            <a:r>
              <a:t>• 4. Execution &amp; Audit</a:t>
            </a:r>
          </a:p>
          <a:p>
            <a:pPr>
              <a:defRPr sz="950">
                <a:solidFill>
                  <a:srgbClr val="6B4F3B"/>
                </a:solidFill>
                <a:latin typeface="Calibri"/>
              </a:defRPr>
            </a:pPr>
            <a:r>
              <a:t>   Approved queries proceed to LLM; decisions are immutably logged with approver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D4B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874520"/>
            <a:ext cx="5425135" cy="40233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D4760A"/>
                </a:solidFill>
                <a:latin typeface="Segoe UI"/>
              </a:defRPr>
            </a:pPr>
            <a:r>
              <a:t>[ APPLICATION SCREENSHOT REQUIRED ]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2D2418"/>
                </a:solidFill>
                <a:latin typeface="Segoe UI"/>
              </a:defRPr>
            </a:pPr>
            <a:r>
              <a:t>SecOps Human Review &amp; Approval Queue</a:t>
            </a:r>
          </a:p>
          <a:p>
            <a:pPr algn="ctr">
              <a:defRPr sz="1000">
                <a:solidFill>
                  <a:srgbClr val="6B4F3B"/>
                </a:solidFill>
                <a:latin typeface="Calibri"/>
              </a:defRPr>
            </a:pPr>
            <a:r>
              <a:t>Display Approvals Queue UI showing pending prompt tickets, risk badges, reviewer action buttons (Approve / Reject), and justification notes.</a:t>
            </a:r>
          </a:p>
          <a:p>
            <a:pPr algn="ctr">
              <a:spcBef>
                <a:spcPts val="800"/>
              </a:spcBef>
              <a:defRPr sz="900" i="1">
                <a:solidFill>
                  <a:srgbClr val="9C7D64"/>
                </a:solidFill>
                <a:latin typeface="Calibri"/>
              </a:defRPr>
            </a:pPr>
            <a:r>
              <a:t>Drop / Paste verified application screenshot here (16:9 ratio recommended)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STRATEGIC MODULES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AI Governance Capabilities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Comprehensive suite of administrative controls built for centralized enterprise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01368"/>
            <a:ext cx="1018001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2418"/>
                </a:solidFill>
                <a:latin typeface="Segoe UI"/>
              </a:defRPr>
            </a:pPr>
            <a:r>
              <a:t>Policy Management   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Dynamic creation and live hot-reloading of security guardrail policies, injection thresholds, and compliance rulebooks.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88336"/>
            <a:ext cx="1018001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2418"/>
                </a:solidFill>
                <a:latin typeface="Segoe UI"/>
              </a:defRPr>
            </a:pPr>
            <a:r>
              <a:t>Model Registry   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Centralized registry cataloging permitted LLM providers, endpoint configurations, context window limits, and pricing.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65576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75304"/>
            <a:ext cx="1018001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2418"/>
                </a:solidFill>
                <a:latin typeface="Segoe UI"/>
              </a:defRPr>
            </a:pPr>
            <a:r>
              <a:t>Prompt Templates   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Enterprise-approved system prompts and sanitized template catalog ensuring consistency and prompt hardening.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52544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62272"/>
            <a:ext cx="1018001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2418"/>
                </a:solidFill>
                <a:latin typeface="Segoe UI"/>
              </a:defRPr>
            </a:pPr>
            <a:r>
              <a:t>Department Governance   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Per-department token quotas, monthly financial budgets, role clearances, and permitted model restrictions.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39512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18001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D2418"/>
                </a:solidFill>
                <a:latin typeface="Segoe UI"/>
              </a:defRPr>
            </a:pPr>
            <a:r>
              <a:t>Approval Rules Matrix   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Configurable multi-tier escalation logic routing high-risk prompts to designated department compliance leads.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FULL-STACK TELEMETRY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Enterprise Observability &amp; Health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Granular distributed tracing, metrics harvesting, and real-time operational health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📊</a:t>
            </a:r>
          </a:p>
          <a:p>
            <a:pPr algn="ctr">
              <a:spcAft>
                <a:spcPts val="12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Real-Time Metrics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Prometheus-compatible instrumentation capturing requests/sec, error rates, p95/p99 latency, and token consumption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2384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🔍</a:t>
            </a:r>
          </a:p>
          <a:p>
            <a:pPr algn="ctr">
              <a:spcAft>
                <a:spcPts val="12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Distributed Tracing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Microsecond-accurate 9-stage pipeline tracing diagnosing processing overhead, detector latency, and network hops.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💰</a:t>
            </a:r>
          </a:p>
          <a:p>
            <a:pPr algn="ctr">
              <a:spcAft>
                <a:spcPts val="12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Cost Analytics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Fine-grained expenditure attribution mapping every dollar spent back to specific models, users, and departments.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📈</a:t>
            </a:r>
          </a:p>
          <a:p>
            <a:pPr algn="ctr">
              <a:spcAft>
                <a:spcPts val="12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Risk Analytics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Trend analysis tracking organizational threat vectors over time, top violation types, and department risk distributions.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💓</a:t>
            </a:r>
          </a:p>
          <a:p>
            <a:pPr algn="ctr">
              <a:spcAft>
                <a:spcPts val="12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Service Health Probes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Continuous liveness and readiness monitoring across all 5 backend microservices with automatic failure alerts.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VALUE CREATION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Tangible Business Impact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Empowering the enterprise to adopt generative AI safely while safeguarding assets and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C62828"/>
                </a:solidFill>
                <a:latin typeface="Segoe UI"/>
              </a:defRPr>
            </a:pPr>
            <a:r>
              <a:t>Security &amp; IP Defense</a:t>
            </a:r>
          </a:p>
          <a:p>
            <a:pPr>
              <a:spcAft>
                <a:spcPts val="6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100% Data Leak Prevention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Prevents catastrophic IP, secret, and PII leakage before prompts exit the corporate network. Completely neutralizes adversarial prompt injection exploits.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69164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2415" y="187452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4760A"/>
                </a:solidFill>
                <a:latin typeface="Segoe UI"/>
              </a:defRPr>
            </a:pPr>
            <a:r>
              <a:t>Regulatory Compliance</a:t>
            </a:r>
          </a:p>
          <a:p>
            <a:pPr>
              <a:spcAft>
                <a:spcPts val="6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Full AI Governance Audit Trail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Delivers continuous conformance with NIST AI RMF, ISO/IEC 42001, and OWASP Top 10 for LLMs. Generates tamper-proof audit trails for internal &amp; external regulators.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A16207"/>
                </a:solidFill>
                <a:latin typeface="Segoe UI"/>
              </a:defRPr>
            </a:pPr>
            <a:r>
              <a:t>Cost Optimization</a:t>
            </a:r>
          </a:p>
          <a:p>
            <a:pPr>
              <a:spcAft>
                <a:spcPts val="6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Predictable &amp; Controlled AI Spend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Eliminates surprise cloud billing through department-level rate limits, token quotas, and automated model routing based on task complexity.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977640"/>
            <a:ext cx="52120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2415" y="416052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E7D32"/>
                </a:solidFill>
                <a:latin typeface="Segoe UI"/>
              </a:defRPr>
            </a:pPr>
            <a:r>
              <a:t>Safe &amp; Accelerated Adoption</a:t>
            </a:r>
          </a:p>
          <a:p>
            <a:pPr>
              <a:spcAft>
                <a:spcPts val="6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Frictionless Innovation</a:t>
            </a:r>
          </a:p>
          <a:p>
            <a:pPr>
              <a:defRPr sz="1000">
                <a:solidFill>
                  <a:srgbClr val="6B4F3B"/>
                </a:solidFill>
                <a:latin typeface="Calibri"/>
              </a:defRPr>
            </a:pPr>
            <a:r>
              <a:t>Unlocks enterprise-wide AI productivity by providing security teams confidence to enable frontier models without bureaucratic delays.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TECHNICAL FOUNDATION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Modern Enterprise Technology Stack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Zero-Docker local developer experience coupled with enterprise-grade cloud-native readiness.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☕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Backend Core</a:t>
            </a:r>
          </a:p>
          <a:p>
            <a:pPr algn="ctr">
              <a:defRPr sz="950">
                <a:solidFill>
                  <a:srgbClr val="6B4F3B"/>
                </a:solidFill>
                <a:latin typeface="Consolas"/>
              </a:defRPr>
            </a:pPr>
            <a:r>
              <a:t>Java 17 LTS</a:t>
            </a:r>
            <a:br/>
            <a:r>
              <a:t>Spring Boot 3.3.5</a:t>
            </a:r>
            <a:br/>
            <a:r>
              <a:t>Spring WebFlux (Reactive)</a:t>
            </a:r>
            <a:br/>
            <a:r>
              <a:t>Hexagonal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72384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📨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Event Streaming</a:t>
            </a:r>
          </a:p>
          <a:p>
            <a:pPr algn="ctr">
              <a:defRPr sz="950">
                <a:solidFill>
                  <a:srgbClr val="6B4F3B"/>
                </a:solidFill>
                <a:latin typeface="Consolas"/>
              </a:defRPr>
            </a:pPr>
            <a:r>
              <a:t>Apache Kafka</a:t>
            </a:r>
            <a:br/>
            <a:r>
              <a:t>Spring Kafka Streams</a:t>
            </a:r>
            <a:br/>
            <a:r>
              <a:t>Distributed Audit Topics</a:t>
            </a:r>
            <a:br/>
            <a:r>
              <a:t>Dead Letter Queues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💾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Data Persistence</a:t>
            </a:r>
          </a:p>
          <a:p>
            <a:pPr algn="ctr">
              <a:defRPr sz="950">
                <a:solidFill>
                  <a:srgbClr val="6B4F3B"/>
                </a:solidFill>
                <a:latin typeface="Consolas"/>
              </a:defRPr>
            </a:pPr>
            <a:r>
              <a:t>PostgreSQL (Enterprise)</a:t>
            </a:r>
            <a:br/>
            <a:r>
              <a:t>H2 Embedded (Zero-Config)</a:t>
            </a:r>
            <a:br/>
            <a:r>
              <a:t>Spring Data JPA</a:t>
            </a:r>
            <a:br/>
            <a:r>
              <a:t>Flyway Schema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928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⚛️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Frontend Dashboard</a:t>
            </a:r>
          </a:p>
          <a:p>
            <a:pPr algn="ctr">
              <a:defRPr sz="950">
                <a:solidFill>
                  <a:srgbClr val="6B4F3B"/>
                </a:solidFill>
                <a:latin typeface="Consolas"/>
              </a:defRPr>
            </a:pPr>
            <a:r>
              <a:t>React 18 SPA</a:t>
            </a:r>
            <a:br/>
            <a:r>
              <a:t>Vite Fast Bundler</a:t>
            </a:r>
            <a:br/>
            <a:r>
              <a:t>Vanilla CSS Design System</a:t>
            </a:r>
            <a:br/>
            <a:r>
              <a:t>Recharts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91640"/>
            <a:ext cx="20116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920240"/>
            <a:ext cx="168249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2800"/>
            </a:pPr>
            <a:r>
              <a:t>🛡️</a:t>
            </a:r>
          </a:p>
          <a:p>
            <a:pPr algn="ctr">
              <a:spcAft>
                <a:spcPts val="1400"/>
              </a:spcAft>
              <a:defRPr sz="1200" b="1">
                <a:solidFill>
                  <a:srgbClr val="2D2418"/>
                </a:solidFill>
                <a:latin typeface="Segoe UI"/>
              </a:defRPr>
            </a:pPr>
            <a:r>
              <a:t>Observability &amp; Sec</a:t>
            </a:r>
          </a:p>
          <a:p>
            <a:pPr algn="ctr">
              <a:defRPr sz="950">
                <a:solidFill>
                  <a:srgbClr val="6B4F3B"/>
                </a:solidFill>
                <a:latin typeface="Consolas"/>
              </a:defRPr>
            </a:pPr>
            <a:r>
              <a:t>Spring Actuator</a:t>
            </a:r>
            <a:br/>
            <a:r>
              <a:t>Prometheus Metrics</a:t>
            </a:r>
            <a:br/>
            <a:r>
              <a:t>Distributed Trace Logs</a:t>
            </a:r>
            <a:br/>
            <a:r>
              <a:t>JWT &amp; AES-256 Crypto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4760A"/>
                </a:solidFill>
                <a:latin typeface="Segoe UI"/>
              </a:defRPr>
            </a:pPr>
            <a:r>
              <a:t>FORWARD STRATEGY</a:t>
            </a:r>
          </a:p>
          <a:p>
            <a:pPr>
              <a:spcAft>
                <a:spcPts val="200"/>
              </a:spcAft>
              <a:defRPr sz="2200" b="1">
                <a:solidFill>
                  <a:srgbClr val="2D2418"/>
                </a:solidFill>
                <a:latin typeface="Segoe UI"/>
              </a:defRPr>
            </a:pPr>
            <a:r>
              <a:t>Strategic Product Roadmap</a:t>
            </a:r>
          </a:p>
          <a:p>
            <a:pPr>
              <a:defRPr sz="1150">
                <a:solidFill>
                  <a:srgbClr val="6B4F3B"/>
                </a:solidFill>
                <a:latin typeface="Calibri"/>
              </a:defRPr>
            </a:pPr>
            <a:r>
              <a:t>Three-phase evolutionary maturity model progressing from inline controls to autonomous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6499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3364992" cy="73152"/>
          </a:xfrm>
          <a:prstGeom prst="rect">
            <a:avLst/>
          </a:prstGeom>
          <a:solidFill>
            <a:srgbClr val="D47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07792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D4760A"/>
                </a:solidFill>
                <a:latin typeface="Segoe UI"/>
              </a:defRPr>
            </a:pPr>
            <a:r>
              <a:t>Phase 1: Foundation (Current)</a:t>
            </a:r>
          </a:p>
          <a:p>
            <a:pPr>
              <a:spcAft>
                <a:spcPts val="14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AI Gateway &amp; Security Controls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Inline WebClient AI Gateway Proxy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Deterministic Prompt Security Scanner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Weighted Multi-Factor Risk Scoring Engine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Automated Token Redaction Engine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H2/Kafka Audit Logging &amp; Trace Replay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91640"/>
            <a:ext cx="336499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7408" y="1691640"/>
            <a:ext cx="3364992" cy="73152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920240"/>
            <a:ext cx="2907792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A16207"/>
                </a:solidFill>
                <a:latin typeface="Segoe UI"/>
              </a:defRPr>
            </a:pPr>
            <a:r>
              <a:t>Phase 2: Expansion (Q3-Q4 '26)</a:t>
            </a:r>
          </a:p>
          <a:p>
            <a:pPr>
              <a:spcAft>
                <a:spcPts val="14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Enterprise Governance Platform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Department-level Quota &amp; Budget Manager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Fine-Grained RBAC &amp; Dynamic Access Tokens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SecOps Human-in-the-Loop Approval Queue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Pre-approved System Prompt Template Registry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Automated Compliance Report Export (PDF/CSV)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91640"/>
            <a:ext cx="3364992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83296" y="1691640"/>
            <a:ext cx="3364992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920240"/>
            <a:ext cx="2907792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E7D32"/>
                </a:solidFill>
                <a:latin typeface="Segoe UI"/>
              </a:defRPr>
            </a:pPr>
            <a:r>
              <a:t>Phase 3: Scale (2027)</a:t>
            </a:r>
          </a:p>
          <a:p>
            <a:pPr>
              <a:spcAft>
                <a:spcPts val="1400"/>
              </a:spcAft>
              <a:defRPr sz="1050" b="1">
                <a:solidFill>
                  <a:srgbClr val="2D2418"/>
                </a:solidFill>
                <a:latin typeface="Segoe UI"/>
              </a:defRPr>
            </a:pPr>
            <a:r>
              <a:t>Autonomous Enterprise Scale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Kubernetes Multi-Region Mesh Deployment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Self-Learning Adversarial Threat Detectors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Hardware Security Module (HSM) Vault Integration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Agentic Autonomous Workflow Verification</a:t>
            </a:r>
          </a:p>
          <a:p>
            <a:pPr>
              <a:spcAft>
                <a:spcPts val="600"/>
              </a:spcAft>
              <a:defRPr sz="1000">
                <a:solidFill>
                  <a:srgbClr val="6B4F3B"/>
                </a:solidFill>
                <a:latin typeface="Calibri"/>
              </a:defRPr>
            </a:pPr>
            <a:r>
              <a:t>• Cross-Organization Federated Threat Sharing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D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D47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63870" y="1188720"/>
            <a:ext cx="146304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D47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4760A"/>
                </a:solidFill>
                <a:latin typeface="Segoe UI"/>
              </a:defRPr>
            </a:pPr>
            <a:r>
              <a:t>🛡️ SDS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4849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600"/>
              </a:spcAft>
              <a:defRPr sz="2800" b="1">
                <a:solidFill>
                  <a:srgbClr val="2D2418"/>
                </a:solidFill>
                <a:latin typeface="Segoe UI"/>
              </a:defRPr>
            </a:pPr>
            <a:r>
              <a:t>Secure AI Adoption at Enterprise Scale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D4760A"/>
                </a:solidFill>
                <a:latin typeface="Segoe UI"/>
              </a:defRPr>
            </a:pPr>
            <a:r>
              <a:t>“Enterprise AI Guardian enables organizations to innovate with AI</a:t>
            </a:r>
            <a:br/>
            <a:r>
              <a:t>while keeping data, compliance, and security under control.”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6B4F3B"/>
                </a:solidFill>
                <a:latin typeface="Segoe UI"/>
              </a:defRPr>
            </a:pPr>
            <a:r>
              <a:t>Digithon '26  |  AI / AX  |  AI Governance &amp; Security Track</a:t>
            </a:r>
          </a:p>
          <a:p>
            <a:pPr algn="ctr">
              <a:defRPr sz="1200" b="1">
                <a:solidFill>
                  <a:srgbClr val="D4760A"/>
                </a:solidFill>
                <a:latin typeface="Segoe UI"/>
              </a:defRPr>
            </a:pPr>
            <a:r>
              <a:t>Submitted by Abdhesh Singh  •  Dept - Knox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8251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C7D64"/>
                </a:solidFill>
                <a:latin typeface="Calibri"/>
              </a:defRPr>
            </a:pPr>
            <a:r>
              <a:t>Enterprise AI Guardian  |  Digithon '26  |  Submitted by Abdhesh Singh, Dept - Knox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82512"/>
            <a:ext cx="14017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b="1">
                <a:solidFill>
                  <a:srgbClr val="D4760A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